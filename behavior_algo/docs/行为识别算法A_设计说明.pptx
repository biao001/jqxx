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109728" cy="548640"/>
          </a:xfrm>
          <a:prstGeom prst="rect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64008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Microsoft YaHei"/>
              </a:rPr>
              <a:t>项目定位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87552"/>
            <a:ext cx="9144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基于摄像头视频流的本地危险驾驶行为识别模块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1417320"/>
            <a:ext cx="7150608" cy="0"/>
          </a:xfrm>
          <a:prstGeom prst="line">
            <a:avLst/>
          </a:prstGeom>
          <a:ln w="12700">
            <a:solidFill>
              <a:srgbClr val="D5D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818120" y="1353312"/>
            <a:ext cx="128016" cy="128016"/>
          </a:xfrm>
          <a:prstGeom prst="ellipse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04120" y="411480"/>
            <a:ext cx="91440" cy="91440"/>
          </a:xfrm>
          <a:prstGeom prst="rect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32136" y="411480"/>
            <a:ext cx="91440" cy="91440"/>
          </a:xfrm>
          <a:prstGeom prst="rect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60152" y="411480"/>
            <a:ext cx="91440" cy="91440"/>
          </a:xfrm>
          <a:prstGeom prst="rect">
            <a:avLst/>
          </a:prstGeom>
          <a:solidFill>
            <a:srgbClr val="B7B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488168" y="411480"/>
            <a:ext cx="91440" cy="91440"/>
          </a:xfrm>
          <a:prstGeom prst="rect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04120" y="539496"/>
            <a:ext cx="91440" cy="91440"/>
          </a:xfrm>
          <a:prstGeom prst="rect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232136" y="539496"/>
            <a:ext cx="91440" cy="91440"/>
          </a:xfrm>
          <a:prstGeom prst="rect">
            <a:avLst/>
          </a:prstGeom>
          <a:solidFill>
            <a:srgbClr val="B7B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60152" y="539496"/>
            <a:ext cx="91440" cy="91440"/>
          </a:xfrm>
          <a:prstGeom prst="rect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88168" y="539496"/>
            <a:ext cx="91440" cy="91440"/>
          </a:xfrm>
          <a:prstGeom prst="rect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104120" y="667512"/>
            <a:ext cx="91440" cy="91440"/>
          </a:xfrm>
          <a:prstGeom prst="rect">
            <a:avLst/>
          </a:prstGeom>
          <a:solidFill>
            <a:srgbClr val="B7B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232136" y="667512"/>
            <a:ext cx="91440" cy="91440"/>
          </a:xfrm>
          <a:prstGeom prst="rect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60152" y="667512"/>
            <a:ext cx="91440" cy="91440"/>
          </a:xfrm>
          <a:prstGeom prst="rect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488168" y="667512"/>
            <a:ext cx="91440" cy="91440"/>
          </a:xfrm>
          <a:prstGeom prst="rect">
            <a:avLst/>
          </a:prstGeom>
          <a:solidFill>
            <a:srgbClr val="B7B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35640" y="274320"/>
            <a:ext cx="868680" cy="868680"/>
          </a:xfrm>
          <a:prstGeom prst="ellipse">
            <a:avLst/>
          </a:prstGeom>
          <a:solidFill>
            <a:srgbClr val="EE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99648" y="338328"/>
            <a:ext cx="731520" cy="731520"/>
          </a:xfrm>
          <a:prstGeom prst="ellipse">
            <a:avLst/>
          </a:prstGeom>
          <a:solidFill>
            <a:srgbClr val="2D3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91088" y="429768"/>
            <a:ext cx="548640" cy="548640"/>
          </a:xfrm>
          <a:prstGeom prst="ellipse">
            <a:avLst/>
          </a:prstGeom>
          <a:solidFill>
            <a:srgbClr val="0F1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109960" y="502920"/>
            <a:ext cx="164592" cy="164592"/>
          </a:xfrm>
          <a:prstGeom prst="ellipse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2286000"/>
            <a:ext cx="260604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85900" y="1920240"/>
            <a:ext cx="731520" cy="731520"/>
          </a:xfrm>
          <a:prstGeom prst="ellipse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◎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2743200"/>
            <a:ext cx="502920" cy="320040"/>
          </a:xfrm>
          <a:prstGeom prst="roundRect">
            <a:avLst>
              <a:gd name="adj" fmla="val 35000"/>
            </a:avLst>
          </a:prstGeom>
          <a:solidFill>
            <a:srgbClr val="2F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" rIns="30000" tIns="10000" bIns="10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31089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Microsoft YaHei"/>
              </a:rPr>
              <a:t>项目聚焦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584448"/>
            <a:ext cx="548640" cy="36576"/>
          </a:xfrm>
          <a:prstGeom prst="rect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3730752"/>
            <a:ext cx="22402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仅聚焦行为动作识别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不涉及疲劳/视线模块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面向本地部署与实验演示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172968" y="3776472"/>
            <a:ext cx="201168" cy="219456"/>
          </a:xfrm>
          <a:prstGeom prst="rightArrow">
            <a:avLst/>
          </a:prstGeom>
          <a:solidFill>
            <a:srgbClr val="B5B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383280" y="2286000"/>
            <a:ext cx="260604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20540" y="1920240"/>
            <a:ext cx="731520" cy="731520"/>
          </a:xfrm>
          <a:prstGeom prst="ellipse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84448" y="2743200"/>
            <a:ext cx="502920" cy="320040"/>
          </a:xfrm>
          <a:prstGeom prst="roundRect">
            <a:avLst>
              <a:gd name="adj" fmla="val 35000"/>
            </a:avLst>
          </a:prstGeom>
          <a:solidFill>
            <a:srgbClr val="2F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" rIns="30000" tIns="10000" bIns="10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84448" y="31089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Microsoft YaHei"/>
              </a:rPr>
              <a:t>项目目标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84448" y="3584448"/>
            <a:ext cx="548640" cy="36576"/>
          </a:xfrm>
          <a:prstGeom prst="rect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84448" y="3730752"/>
            <a:ext cx="22402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基于摄像头视频流实时检测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输出手机/打电话/吸烟/安全带等事件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形成风险评分与预警等级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6007608" y="3776472"/>
            <a:ext cx="201168" cy="219456"/>
          </a:xfrm>
          <a:prstGeom prst="rightArrow">
            <a:avLst/>
          </a:prstGeom>
          <a:solidFill>
            <a:srgbClr val="B5B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17920" y="2286000"/>
            <a:ext cx="260604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155179" y="1920240"/>
            <a:ext cx="731520" cy="731520"/>
          </a:xfrm>
          <a:prstGeom prst="ellipse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19088" y="2743200"/>
            <a:ext cx="502920" cy="320040"/>
          </a:xfrm>
          <a:prstGeom prst="roundRect">
            <a:avLst>
              <a:gd name="adj" fmla="val 35000"/>
            </a:avLst>
          </a:prstGeom>
          <a:solidFill>
            <a:srgbClr val="2F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" rIns="30000" tIns="10000" bIns="10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9088" y="31089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Microsoft YaHei"/>
              </a:rPr>
              <a:t>关键检测对象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19088" y="3584448"/>
            <a:ext cx="548640" cy="36576"/>
          </a:xfrm>
          <a:prstGeom prst="rect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19088" y="3730752"/>
            <a:ext cx="22402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手机使用 / 打电话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吸烟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未系安全带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双手离开方向盘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8842248" y="3776472"/>
            <a:ext cx="201168" cy="219456"/>
          </a:xfrm>
          <a:prstGeom prst="rightArrow">
            <a:avLst/>
          </a:prstGeom>
          <a:solidFill>
            <a:srgbClr val="B5B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052560" y="2286000"/>
            <a:ext cx="260604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989820" y="1920240"/>
            <a:ext cx="731520" cy="731520"/>
          </a:xfrm>
          <a:prstGeom prst="ellipse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✦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53728" y="2743200"/>
            <a:ext cx="502920" cy="320040"/>
          </a:xfrm>
          <a:prstGeom prst="roundRect">
            <a:avLst>
              <a:gd name="adj" fmla="val 35000"/>
            </a:avLst>
          </a:prstGeom>
          <a:solidFill>
            <a:srgbClr val="2F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" rIns="30000" tIns="10000" bIns="10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53728" y="31089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Microsoft YaHei"/>
              </a:rPr>
              <a:t>核心特征指标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53728" y="3584448"/>
            <a:ext cx="548640" cy="36576"/>
          </a:xfrm>
          <a:prstGeom prst="rect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53728" y="3730752"/>
            <a:ext cx="22402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YOLOv8 bbox 置信度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手机-头部距离 / 手腕位置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方向盘 ROI 命中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加权互补风险评分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持续时间 / 时序滑窗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97280" y="5989320"/>
            <a:ext cx="10058400" cy="640080"/>
          </a:xfrm>
          <a:prstGeom prst="roundRect">
            <a:avLst>
              <a:gd name="adj" fmla="val 45000"/>
            </a:avLst>
          </a:prstGeom>
          <a:solidFill>
            <a:srgbClr val="FBFCFF"/>
          </a:solidFill>
          <a:ln w="12700">
            <a:solidFill>
              <a:srgbClr val="D0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210056" y="6117336"/>
            <a:ext cx="384048" cy="384048"/>
          </a:xfrm>
          <a:prstGeom prst="ellipse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76400" y="614476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Microsoft YaHei"/>
              </a:rPr>
              <a:t>实时监测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450080" y="6172200"/>
            <a:ext cx="0" cy="274320"/>
          </a:xfrm>
          <a:prstGeom prst="line">
            <a:avLst/>
          </a:prstGeom>
          <a:ln w="9525">
            <a:solidFill>
              <a:srgbClr val="D5DA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4562855" y="6117336"/>
            <a:ext cx="384048" cy="384048"/>
          </a:xfrm>
          <a:prstGeom prst="ellipse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⬛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199" y="614476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Microsoft YaHei"/>
              </a:rPr>
              <a:t>本地部署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802880" y="6172200"/>
            <a:ext cx="0" cy="274320"/>
          </a:xfrm>
          <a:prstGeom prst="line">
            <a:avLst/>
          </a:prstGeom>
          <a:ln w="9525">
            <a:solidFill>
              <a:srgbClr val="D5DA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7915656" y="6117336"/>
            <a:ext cx="384048" cy="384048"/>
          </a:xfrm>
          <a:prstGeom prst="ellipse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82000" y="614476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Microsoft YaHei"/>
              </a:rPr>
              <a:t>可解释评分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109728" cy="548640"/>
          </a:xfrm>
          <a:prstGeom prst="rect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64008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Microsoft YaHei"/>
              </a:rPr>
              <a:t>全流程技术路线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87552"/>
            <a:ext cx="9144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围绕本地行为识别模块的完整处理链路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1417320"/>
            <a:ext cx="7150608" cy="0"/>
          </a:xfrm>
          <a:prstGeom prst="line">
            <a:avLst/>
          </a:prstGeom>
          <a:ln w="12700">
            <a:solidFill>
              <a:srgbClr val="D5D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818120" y="1353312"/>
            <a:ext cx="128016" cy="128016"/>
          </a:xfrm>
          <a:prstGeom prst="ellipse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04120" y="411480"/>
            <a:ext cx="91440" cy="91440"/>
          </a:xfrm>
          <a:prstGeom prst="rect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32136" y="411480"/>
            <a:ext cx="91440" cy="91440"/>
          </a:xfrm>
          <a:prstGeom prst="rect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60152" y="411480"/>
            <a:ext cx="91440" cy="91440"/>
          </a:xfrm>
          <a:prstGeom prst="rect">
            <a:avLst/>
          </a:prstGeom>
          <a:solidFill>
            <a:srgbClr val="B7B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488168" y="411480"/>
            <a:ext cx="91440" cy="91440"/>
          </a:xfrm>
          <a:prstGeom prst="rect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04120" y="539496"/>
            <a:ext cx="91440" cy="91440"/>
          </a:xfrm>
          <a:prstGeom prst="rect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232136" y="539496"/>
            <a:ext cx="91440" cy="91440"/>
          </a:xfrm>
          <a:prstGeom prst="rect">
            <a:avLst/>
          </a:prstGeom>
          <a:solidFill>
            <a:srgbClr val="B7B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60152" y="539496"/>
            <a:ext cx="91440" cy="91440"/>
          </a:xfrm>
          <a:prstGeom prst="rect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88168" y="539496"/>
            <a:ext cx="91440" cy="91440"/>
          </a:xfrm>
          <a:prstGeom prst="rect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104120" y="667512"/>
            <a:ext cx="91440" cy="91440"/>
          </a:xfrm>
          <a:prstGeom prst="rect">
            <a:avLst/>
          </a:prstGeom>
          <a:solidFill>
            <a:srgbClr val="B7B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232136" y="667512"/>
            <a:ext cx="91440" cy="91440"/>
          </a:xfrm>
          <a:prstGeom prst="rect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60152" y="667512"/>
            <a:ext cx="91440" cy="91440"/>
          </a:xfrm>
          <a:prstGeom prst="rect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488168" y="667512"/>
            <a:ext cx="91440" cy="91440"/>
          </a:xfrm>
          <a:prstGeom prst="rect">
            <a:avLst/>
          </a:prstGeom>
          <a:solidFill>
            <a:srgbClr val="B7B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35640" y="274320"/>
            <a:ext cx="868680" cy="868680"/>
          </a:xfrm>
          <a:prstGeom prst="ellipse">
            <a:avLst/>
          </a:prstGeom>
          <a:solidFill>
            <a:srgbClr val="EE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99648" y="338328"/>
            <a:ext cx="731520" cy="731520"/>
          </a:xfrm>
          <a:prstGeom prst="ellipse">
            <a:avLst/>
          </a:prstGeom>
          <a:solidFill>
            <a:srgbClr val="2D3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91088" y="429768"/>
            <a:ext cx="548640" cy="548640"/>
          </a:xfrm>
          <a:prstGeom prst="ellipse">
            <a:avLst/>
          </a:prstGeom>
          <a:solidFill>
            <a:srgbClr val="0F1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109960" y="502920"/>
            <a:ext cx="164592" cy="164592"/>
          </a:xfrm>
          <a:prstGeom prst="ellipse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20040" y="2286000"/>
            <a:ext cx="178308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5819" y="1920240"/>
            <a:ext cx="731520" cy="731520"/>
          </a:xfrm>
          <a:prstGeom prst="ellipse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1207" y="2743200"/>
            <a:ext cx="502920" cy="320040"/>
          </a:xfrm>
          <a:prstGeom prst="roundRect">
            <a:avLst>
              <a:gd name="adj" fmla="val 35000"/>
            </a:avLst>
          </a:prstGeom>
          <a:solidFill>
            <a:srgbClr val="2F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" rIns="30000" tIns="10000" bIns="10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310896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Microsoft YaHei"/>
              </a:rPr>
              <a:t>数据输入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207" y="3584448"/>
            <a:ext cx="548640" cy="36576"/>
          </a:xfrm>
          <a:prstGeom prst="rect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7" y="3730752"/>
            <a:ext cx="1417319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摄像头实时视频流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Roboflow 公开数据集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本地采集场景数据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2057400" y="3831336"/>
            <a:ext cx="164592" cy="201168"/>
          </a:xfrm>
          <a:prstGeom prst="rightArrow">
            <a:avLst/>
          </a:prstGeom>
          <a:solidFill>
            <a:srgbClr val="B5B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221992" y="2286000"/>
            <a:ext cx="178308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47772" y="1920240"/>
            <a:ext cx="731520" cy="731520"/>
          </a:xfrm>
          <a:prstGeom prst="ellipse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⊞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23160" y="2743200"/>
            <a:ext cx="502920" cy="320040"/>
          </a:xfrm>
          <a:prstGeom prst="roundRect">
            <a:avLst>
              <a:gd name="adj" fmla="val 35000"/>
            </a:avLst>
          </a:prstGeom>
          <a:solidFill>
            <a:srgbClr val="2F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" rIns="30000" tIns="10000" bIns="10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310896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Microsoft YaHei"/>
              </a:rPr>
              <a:t>数据合并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23160" y="3584448"/>
            <a:ext cx="548640" cy="36576"/>
          </a:xfrm>
          <a:prstGeom prst="rect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23160" y="3730752"/>
            <a:ext cx="1417319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3 数据集 → 8 类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9137 张统一标注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YOLO 格式 data.yaml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3959352" y="3831336"/>
            <a:ext cx="164592" cy="201168"/>
          </a:xfrm>
          <a:prstGeom prst="rightArrow">
            <a:avLst/>
          </a:prstGeom>
          <a:solidFill>
            <a:srgbClr val="B5B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123944" y="2286000"/>
            <a:ext cx="178308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649723" y="1920240"/>
            <a:ext cx="731520" cy="731520"/>
          </a:xfrm>
          <a:prstGeom prst="ellipse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25112" y="2743200"/>
            <a:ext cx="502920" cy="320040"/>
          </a:xfrm>
          <a:prstGeom prst="roundRect">
            <a:avLst>
              <a:gd name="adj" fmla="val 35000"/>
            </a:avLst>
          </a:prstGeom>
          <a:solidFill>
            <a:srgbClr val="2F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" rIns="30000" tIns="10000" bIns="10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25112" y="310896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Microsoft YaHei"/>
              </a:rPr>
              <a:t>模型训练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25112" y="3584448"/>
            <a:ext cx="548640" cy="36576"/>
          </a:xfrm>
          <a:prstGeom prst="rect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25112" y="3730752"/>
            <a:ext cx="1417319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YOLOv8n 基座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AdamW + Mosaic/Mixup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imgsz=640  epochs=40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5861304" y="3831336"/>
            <a:ext cx="164592" cy="201168"/>
          </a:xfrm>
          <a:prstGeom prst="rightArrow">
            <a:avLst/>
          </a:prstGeom>
          <a:solidFill>
            <a:srgbClr val="B5B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025896" y="2286000"/>
            <a:ext cx="178308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51675" y="1920240"/>
            <a:ext cx="731520" cy="731520"/>
          </a:xfrm>
          <a:prstGeom prst="ellipse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▶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27064" y="2743200"/>
            <a:ext cx="502920" cy="320040"/>
          </a:xfrm>
          <a:prstGeom prst="roundRect">
            <a:avLst>
              <a:gd name="adj" fmla="val 35000"/>
            </a:avLst>
          </a:prstGeom>
          <a:solidFill>
            <a:srgbClr val="2F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" rIns="30000" tIns="10000" bIns="10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27064" y="310896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Microsoft YaHei"/>
              </a:rPr>
              <a:t>实时推理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27064" y="3584448"/>
            <a:ext cx="548640" cy="36576"/>
          </a:xfrm>
          <a:prstGeom prst="rect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27064" y="3730752"/>
            <a:ext cx="1417319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低光 CLAHE 预处理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驾驶员 crop + 跳帧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YOLO + Pose 并行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7763255" y="3831336"/>
            <a:ext cx="164592" cy="201168"/>
          </a:xfrm>
          <a:prstGeom prst="rightArrow">
            <a:avLst/>
          </a:prstGeom>
          <a:solidFill>
            <a:srgbClr val="B5B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927848" y="2286000"/>
            <a:ext cx="178308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453628" y="1920240"/>
            <a:ext cx="731520" cy="731520"/>
          </a:xfrm>
          <a:prstGeom prst="ellipse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∑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129016" y="2743200"/>
            <a:ext cx="502920" cy="320040"/>
          </a:xfrm>
          <a:prstGeom prst="roundRect">
            <a:avLst>
              <a:gd name="adj" fmla="val 35000"/>
            </a:avLst>
          </a:prstGeom>
          <a:solidFill>
            <a:srgbClr val="2F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" rIns="30000" tIns="10000" bIns="10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29016" y="310896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Microsoft YaHei"/>
              </a:rPr>
              <a:t>规则评分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29016" y="3584448"/>
            <a:ext cx="548640" cy="36576"/>
          </a:xfrm>
          <a:prstGeom prst="rect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29016" y="3730752"/>
            <a:ext cx="1417319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phone/calling 互斥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方向盘 ROI 判定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5 帧滑窗 + 加权互补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9665207" y="3831336"/>
            <a:ext cx="164592" cy="201168"/>
          </a:xfrm>
          <a:prstGeom prst="rightArrow">
            <a:avLst/>
          </a:prstGeom>
          <a:solidFill>
            <a:srgbClr val="B5B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829800" y="2286000"/>
            <a:ext cx="178308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355580" y="1920240"/>
            <a:ext cx="731520" cy="731520"/>
          </a:xfrm>
          <a:prstGeom prst="ellipse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◱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030968" y="2743200"/>
            <a:ext cx="502920" cy="320040"/>
          </a:xfrm>
          <a:prstGeom prst="roundRect">
            <a:avLst>
              <a:gd name="adj" fmla="val 35000"/>
            </a:avLst>
          </a:prstGeom>
          <a:solidFill>
            <a:srgbClr val="2F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" rIns="30000" tIns="10000" bIns="10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30968" y="310896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Microsoft YaHei"/>
              </a:rPr>
              <a:t>本地输出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030968" y="3584448"/>
            <a:ext cx="548640" cy="36576"/>
          </a:xfrm>
          <a:prstGeom prst="rect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30968" y="3730752"/>
            <a:ext cx="1417319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监控风格 UI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ACTIVE ALERTS 面板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JSON 日志与告警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97280" y="5989320"/>
            <a:ext cx="10058400" cy="640080"/>
          </a:xfrm>
          <a:prstGeom prst="roundRect">
            <a:avLst>
              <a:gd name="adj" fmla="val 45000"/>
            </a:avLst>
          </a:prstGeom>
          <a:solidFill>
            <a:srgbClr val="FBFCFF"/>
          </a:solidFill>
          <a:ln w="12700">
            <a:solidFill>
              <a:srgbClr val="D0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210056" y="6117336"/>
            <a:ext cx="384048" cy="384048"/>
          </a:xfrm>
          <a:prstGeom prst="ellipse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▶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76400" y="614476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Microsoft YaHei"/>
              </a:rPr>
              <a:t>视频流驱动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4450080" y="6172200"/>
            <a:ext cx="0" cy="274320"/>
          </a:xfrm>
          <a:prstGeom prst="line">
            <a:avLst/>
          </a:prstGeom>
          <a:ln w="9525">
            <a:solidFill>
              <a:srgbClr val="D5DA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4562855" y="6117336"/>
            <a:ext cx="384048" cy="384048"/>
          </a:xfrm>
          <a:prstGeom prst="ellipse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~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199" y="614476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Microsoft YaHei"/>
              </a:rPr>
              <a:t>时序分析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802880" y="6172200"/>
            <a:ext cx="0" cy="274320"/>
          </a:xfrm>
          <a:prstGeom prst="line">
            <a:avLst/>
          </a:prstGeom>
          <a:ln w="9525">
            <a:solidFill>
              <a:srgbClr val="D5DA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7915656" y="6117336"/>
            <a:ext cx="384048" cy="384048"/>
          </a:xfrm>
          <a:prstGeom prst="ellipse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⚙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82000" y="614476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Microsoft YaHei"/>
              </a:rPr>
              <a:t>本地实时推理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109728" cy="548640"/>
          </a:xfrm>
          <a:prstGeom prst="rect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64008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Microsoft YaHei"/>
              </a:rPr>
              <a:t>输入 / 输出设计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87552"/>
            <a:ext cx="9144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面向行为识别模块的标准输入与分层输出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1417320"/>
            <a:ext cx="7150608" cy="0"/>
          </a:xfrm>
          <a:prstGeom prst="line">
            <a:avLst/>
          </a:prstGeom>
          <a:ln w="12700">
            <a:solidFill>
              <a:srgbClr val="D5D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818120" y="1353312"/>
            <a:ext cx="128016" cy="128016"/>
          </a:xfrm>
          <a:prstGeom prst="ellipse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04120" y="411480"/>
            <a:ext cx="91440" cy="91440"/>
          </a:xfrm>
          <a:prstGeom prst="rect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32136" y="411480"/>
            <a:ext cx="91440" cy="91440"/>
          </a:xfrm>
          <a:prstGeom prst="rect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60152" y="411480"/>
            <a:ext cx="91440" cy="91440"/>
          </a:xfrm>
          <a:prstGeom prst="rect">
            <a:avLst/>
          </a:prstGeom>
          <a:solidFill>
            <a:srgbClr val="B7B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488168" y="411480"/>
            <a:ext cx="91440" cy="91440"/>
          </a:xfrm>
          <a:prstGeom prst="rect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04120" y="539496"/>
            <a:ext cx="91440" cy="91440"/>
          </a:xfrm>
          <a:prstGeom prst="rect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232136" y="539496"/>
            <a:ext cx="91440" cy="91440"/>
          </a:xfrm>
          <a:prstGeom prst="rect">
            <a:avLst/>
          </a:prstGeom>
          <a:solidFill>
            <a:srgbClr val="B7B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60152" y="539496"/>
            <a:ext cx="91440" cy="91440"/>
          </a:xfrm>
          <a:prstGeom prst="rect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88168" y="539496"/>
            <a:ext cx="91440" cy="91440"/>
          </a:xfrm>
          <a:prstGeom prst="rect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104120" y="667512"/>
            <a:ext cx="91440" cy="91440"/>
          </a:xfrm>
          <a:prstGeom prst="rect">
            <a:avLst/>
          </a:prstGeom>
          <a:solidFill>
            <a:srgbClr val="B7B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232136" y="667512"/>
            <a:ext cx="91440" cy="91440"/>
          </a:xfrm>
          <a:prstGeom prst="rect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60152" y="667512"/>
            <a:ext cx="91440" cy="91440"/>
          </a:xfrm>
          <a:prstGeom prst="rect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488168" y="667512"/>
            <a:ext cx="91440" cy="91440"/>
          </a:xfrm>
          <a:prstGeom prst="rect">
            <a:avLst/>
          </a:prstGeom>
          <a:solidFill>
            <a:srgbClr val="B7B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35640" y="274320"/>
            <a:ext cx="868680" cy="868680"/>
          </a:xfrm>
          <a:prstGeom prst="ellipse">
            <a:avLst/>
          </a:prstGeom>
          <a:solidFill>
            <a:srgbClr val="EE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99648" y="338328"/>
            <a:ext cx="731520" cy="731520"/>
          </a:xfrm>
          <a:prstGeom prst="ellipse">
            <a:avLst/>
          </a:prstGeom>
          <a:solidFill>
            <a:srgbClr val="2D3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91088" y="429768"/>
            <a:ext cx="548640" cy="548640"/>
          </a:xfrm>
          <a:prstGeom prst="ellipse">
            <a:avLst/>
          </a:prstGeom>
          <a:solidFill>
            <a:srgbClr val="0F1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109960" y="502920"/>
            <a:ext cx="164592" cy="164592"/>
          </a:xfrm>
          <a:prstGeom prst="ellipse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1874519"/>
            <a:ext cx="3291840" cy="4023360"/>
          </a:xfrm>
          <a:prstGeom prst="roundRect">
            <a:avLst>
              <a:gd name="adj" fmla="val 6000"/>
            </a:avLst>
          </a:prstGeom>
          <a:solidFill>
            <a:srgbClr val="FBFCFF"/>
          </a:solidFill>
          <a:ln w="12700">
            <a:solidFill>
              <a:srgbClr val="E5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4360" y="1737360"/>
            <a:ext cx="457200" cy="457200"/>
          </a:xfrm>
          <a:prstGeom prst="ellipse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181051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Microsoft YaHei"/>
              </a:rPr>
              <a:t>输入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228600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5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4380" y="2491740"/>
            <a:ext cx="502920" cy="502920"/>
          </a:xfrm>
          <a:prstGeom prst="ellipse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2450592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Microsoft YaHei"/>
              </a:rPr>
              <a:t>实时摄像头视频流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27889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YaHei"/>
              </a:rPr>
              <a:t>本地实时采集  BGR uint8  ≥640×480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3401568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5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54380" y="3607308"/>
            <a:ext cx="502920" cy="502920"/>
          </a:xfrm>
          <a:prstGeom prst="ellipse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356616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Microsoft YaHei"/>
              </a:rPr>
              <a:t>Roboflow 公开数据集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3904487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YaHei"/>
              </a:rPr>
              <a:t>distracted_driving + cigarette + seatbelt  9137 张 8 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4517136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5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54380" y="4722875"/>
            <a:ext cx="502920" cy="502920"/>
          </a:xfrm>
          <a:prstGeom prst="ellipse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4681727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Microsoft YaHei"/>
              </a:rPr>
              <a:t>本地采集数据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5020055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YaHei"/>
              </a:rPr>
              <a:t>光照/角度/戴眼镜等场景补充</a:t>
            </a:r>
          </a:p>
        </p:txBody>
      </p:sp>
      <p:sp>
        <p:nvSpPr>
          <p:cNvPr id="39" name="Oval 38"/>
          <p:cNvSpPr/>
          <p:nvPr/>
        </p:nvSpPr>
        <p:spPr>
          <a:xfrm>
            <a:off x="4434840" y="3246120"/>
            <a:ext cx="1188720" cy="1188720"/>
          </a:xfrm>
          <a:prstGeom prst="ellipse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709160" y="3246120"/>
            <a:ext cx="640080" cy="640080"/>
          </a:xfrm>
          <a:prstGeom prst="ellipse">
            <a:avLst/>
          </a:prstGeom>
          <a:solidFill>
            <a:srgbClr val="8A6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⚙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77639" y="411480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6B4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23360" y="42062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4A38B0"/>
                </a:solidFill>
                <a:latin typeface="Microsoft YaHei"/>
              </a:rPr>
              <a:t>行为识别模块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23360" y="457200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Microsoft YaHei"/>
              </a:rPr>
              <a:t>YOLOv8
+ 规则判定
+ 时序滑窗 + 评分决策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3703320" y="3474720"/>
            <a:ext cx="256032" cy="228600"/>
          </a:xfrm>
          <a:prstGeom prst="rightArrow">
            <a:avLst/>
          </a:prstGeom>
          <a:solidFill>
            <a:srgbClr val="B5B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ight Arrow 44"/>
          <p:cNvSpPr/>
          <p:nvPr/>
        </p:nvSpPr>
        <p:spPr>
          <a:xfrm>
            <a:off x="6355080" y="3474720"/>
            <a:ext cx="256032" cy="228600"/>
          </a:xfrm>
          <a:prstGeom prst="rightArrow">
            <a:avLst/>
          </a:prstGeom>
          <a:solidFill>
            <a:srgbClr val="B5B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812280" y="1874519"/>
            <a:ext cx="4846320" cy="4023360"/>
          </a:xfrm>
          <a:prstGeom prst="roundRect">
            <a:avLst>
              <a:gd name="adj" fmla="val 6000"/>
            </a:avLst>
          </a:prstGeom>
          <a:solidFill>
            <a:srgbClr val="FBFCFF"/>
          </a:solidFill>
          <a:ln w="12700">
            <a:solidFill>
              <a:srgbClr val="E5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03720" y="1737360"/>
            <a:ext cx="457200" cy="457200"/>
          </a:xfrm>
          <a:prstGeom prst="ellipse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79" y="181051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Microsoft YaHei"/>
              </a:rPr>
              <a:t>输出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995160" y="2331720"/>
            <a:ext cx="219456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5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132320" y="2468879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0" y="2468879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9520" y="2496312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Microsoft YaHei"/>
              </a:rPr>
              <a:t>原始检测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0" y="2926079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B5563"/>
                </a:solidFill>
                <a:latin typeface="Microsoft YaHei"/>
              </a:rPr>
              <a:t>•  bbox / class_id
•  class_name
•  confidence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281160" y="2331720"/>
            <a:ext cx="219456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5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418320" y="2468879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18320" y="2468879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75520" y="2496312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Microsoft YaHei"/>
              </a:rPr>
              <a:t>行为事件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18320" y="2926079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B5563"/>
                </a:solidFill>
                <a:latin typeface="Microsoft YaHei"/>
              </a:rPr>
              <a:t>•  phone_use / calling
•  smoking / no_seatbelt
•  hands_off_wheel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995160" y="4023360"/>
            <a:ext cx="219456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5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132320" y="416052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32320" y="4160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89520" y="4187952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Microsoft YaHei"/>
              </a:rPr>
              <a:t>风险量化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32320" y="461772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B5563"/>
                </a:solidFill>
                <a:latin typeface="Microsoft YaHei"/>
              </a:rPr>
              <a:t>•  Risk Score 0-100
•  Tier: safe / warning
     / danger / critical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281160" y="4023360"/>
            <a:ext cx="219456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5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9418320" y="416052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418320" y="4160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75520" y="4187952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Microsoft YaHei"/>
              </a:rPr>
              <a:t>展示输出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18320" y="461772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B5563"/>
                </a:solidFill>
                <a:latin typeface="Microsoft YaHei"/>
              </a:rPr>
              <a:t>•  监控界面 / 状态灯
•  语音告警
•  JSON 日志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109728" cy="548640"/>
          </a:xfrm>
          <a:prstGeom prst="rect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64008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Microsoft YaHei"/>
              </a:rPr>
              <a:t>技术架构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87552"/>
            <a:ext cx="9144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数据层—感知层—规则时序层—决策层的四层设计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1417320"/>
            <a:ext cx="7150608" cy="0"/>
          </a:xfrm>
          <a:prstGeom prst="line">
            <a:avLst/>
          </a:prstGeom>
          <a:ln w="12700">
            <a:solidFill>
              <a:srgbClr val="D5D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818120" y="1353312"/>
            <a:ext cx="128016" cy="128016"/>
          </a:xfrm>
          <a:prstGeom prst="ellipse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04120" y="411480"/>
            <a:ext cx="91440" cy="91440"/>
          </a:xfrm>
          <a:prstGeom prst="rect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32136" y="411480"/>
            <a:ext cx="91440" cy="91440"/>
          </a:xfrm>
          <a:prstGeom prst="rect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60152" y="411480"/>
            <a:ext cx="91440" cy="91440"/>
          </a:xfrm>
          <a:prstGeom prst="rect">
            <a:avLst/>
          </a:prstGeom>
          <a:solidFill>
            <a:srgbClr val="B7B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488168" y="411480"/>
            <a:ext cx="91440" cy="91440"/>
          </a:xfrm>
          <a:prstGeom prst="rect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04120" y="539496"/>
            <a:ext cx="91440" cy="91440"/>
          </a:xfrm>
          <a:prstGeom prst="rect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232136" y="539496"/>
            <a:ext cx="91440" cy="91440"/>
          </a:xfrm>
          <a:prstGeom prst="rect">
            <a:avLst/>
          </a:prstGeom>
          <a:solidFill>
            <a:srgbClr val="B7B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60152" y="539496"/>
            <a:ext cx="91440" cy="91440"/>
          </a:xfrm>
          <a:prstGeom prst="rect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88168" y="539496"/>
            <a:ext cx="91440" cy="91440"/>
          </a:xfrm>
          <a:prstGeom prst="rect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104120" y="667512"/>
            <a:ext cx="91440" cy="91440"/>
          </a:xfrm>
          <a:prstGeom prst="rect">
            <a:avLst/>
          </a:prstGeom>
          <a:solidFill>
            <a:srgbClr val="B7B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232136" y="667512"/>
            <a:ext cx="91440" cy="91440"/>
          </a:xfrm>
          <a:prstGeom prst="rect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60152" y="667512"/>
            <a:ext cx="91440" cy="91440"/>
          </a:xfrm>
          <a:prstGeom prst="rect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488168" y="667512"/>
            <a:ext cx="91440" cy="91440"/>
          </a:xfrm>
          <a:prstGeom prst="rect">
            <a:avLst/>
          </a:prstGeom>
          <a:solidFill>
            <a:srgbClr val="B7B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35640" y="274320"/>
            <a:ext cx="868680" cy="868680"/>
          </a:xfrm>
          <a:prstGeom prst="ellipse">
            <a:avLst/>
          </a:prstGeom>
          <a:solidFill>
            <a:srgbClr val="EE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99648" y="338328"/>
            <a:ext cx="731520" cy="731520"/>
          </a:xfrm>
          <a:prstGeom prst="ellipse">
            <a:avLst/>
          </a:prstGeom>
          <a:solidFill>
            <a:srgbClr val="2D3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91088" y="429768"/>
            <a:ext cx="548640" cy="548640"/>
          </a:xfrm>
          <a:prstGeom prst="ellipse">
            <a:avLst/>
          </a:prstGeom>
          <a:solidFill>
            <a:srgbClr val="0F1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109960" y="502920"/>
            <a:ext cx="164592" cy="164592"/>
          </a:xfrm>
          <a:prstGeom prst="ellipse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2286000"/>
            <a:ext cx="214884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11580" y="1920240"/>
            <a:ext cx="731520" cy="731520"/>
          </a:xfrm>
          <a:prstGeom prst="ellipse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" y="2743200"/>
            <a:ext cx="502920" cy="320040"/>
          </a:xfrm>
          <a:prstGeom prst="roundRect">
            <a:avLst>
              <a:gd name="adj" fmla="val 35000"/>
            </a:avLst>
          </a:prstGeom>
          <a:solidFill>
            <a:srgbClr val="2F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" rIns="30000" tIns="10000" bIns="10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31089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Microsoft YaHei"/>
              </a:rPr>
              <a:t>数据层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4088" y="3584448"/>
            <a:ext cx="548640" cy="36576"/>
          </a:xfrm>
          <a:prstGeom prst="rect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3730752"/>
            <a:ext cx="1783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3 个 Roboflow 公开数据集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9137 张 8 类统一标注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实时视频流输入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2624328" y="3776472"/>
            <a:ext cx="201168" cy="219456"/>
          </a:xfrm>
          <a:prstGeom prst="rightArrow">
            <a:avLst/>
          </a:prstGeom>
          <a:solidFill>
            <a:srgbClr val="B5B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834640" y="2286000"/>
            <a:ext cx="214884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543300" y="1920240"/>
            <a:ext cx="731520" cy="731520"/>
          </a:xfrm>
          <a:prstGeom prst="ellipse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◎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35808" y="2743200"/>
            <a:ext cx="502920" cy="320040"/>
          </a:xfrm>
          <a:prstGeom prst="roundRect">
            <a:avLst>
              <a:gd name="adj" fmla="val 35000"/>
            </a:avLst>
          </a:prstGeom>
          <a:solidFill>
            <a:srgbClr val="2F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" rIns="30000" tIns="10000" bIns="10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35808" y="31089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Microsoft YaHei"/>
              </a:rPr>
              <a:t>感知层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35808" y="3584448"/>
            <a:ext cx="548640" cy="36576"/>
          </a:xfrm>
          <a:prstGeom prst="rect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35808" y="3730752"/>
            <a:ext cx="1783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YOLOv8n unified.pt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YOLOv8n-pose 17 点辅助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低光 CLAHE 预处理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4956048" y="3776472"/>
            <a:ext cx="201168" cy="219456"/>
          </a:xfrm>
          <a:prstGeom prst="rightArrow">
            <a:avLst/>
          </a:prstGeom>
          <a:solidFill>
            <a:srgbClr val="B5B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166360" y="2286000"/>
            <a:ext cx="214884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875020" y="1920240"/>
            <a:ext cx="731520" cy="731520"/>
          </a:xfrm>
          <a:prstGeom prst="ellipse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⏱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67528" y="2743200"/>
            <a:ext cx="502920" cy="320040"/>
          </a:xfrm>
          <a:prstGeom prst="roundRect">
            <a:avLst>
              <a:gd name="adj" fmla="val 35000"/>
            </a:avLst>
          </a:prstGeom>
          <a:solidFill>
            <a:srgbClr val="2F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" rIns="30000" tIns="10000" bIns="10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67528" y="31089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Microsoft YaHei"/>
              </a:rPr>
              <a:t>规则时序层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67528" y="3584448"/>
            <a:ext cx="548640" cy="36576"/>
          </a:xfrm>
          <a:prstGeom prst="rect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67528" y="3730752"/>
            <a:ext cx="1783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calling ↔ phone_use 互斥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方向盘 ROI 判定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5 帧滑窗去抖 (3/3)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duration_s 统计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7287768" y="3776472"/>
            <a:ext cx="201168" cy="219456"/>
          </a:xfrm>
          <a:prstGeom prst="rightArrow">
            <a:avLst/>
          </a:prstGeom>
          <a:solidFill>
            <a:srgbClr val="B5B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498080" y="2286000"/>
            <a:ext cx="214884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206740" y="1920240"/>
            <a:ext cx="731520" cy="731520"/>
          </a:xfrm>
          <a:prstGeom prst="ellipse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⚖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99248" y="2743200"/>
            <a:ext cx="502920" cy="320040"/>
          </a:xfrm>
          <a:prstGeom prst="roundRect">
            <a:avLst>
              <a:gd name="adj" fmla="val 35000"/>
            </a:avLst>
          </a:prstGeom>
          <a:solidFill>
            <a:srgbClr val="2F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" rIns="30000" tIns="10000" bIns="10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9248" y="31089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Microsoft YaHei"/>
              </a:rPr>
              <a:t>决策层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99248" y="3584448"/>
            <a:ext cx="548640" cy="36576"/>
          </a:xfrm>
          <a:prstGeom prst="rect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99248" y="3730752"/>
            <a:ext cx="1783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加权互补风险公式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5 档风险等级映射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高危 &gt;2s 升级告警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6B4FD9"/>
                </a:solidFill>
                <a:latin typeface="Microsoft YaHei"/>
              </a:rPr>
              <a:t>● </a:t>
            </a:r>
            <a:r>
              <a:rPr sz="1100">
                <a:solidFill>
                  <a:srgbClr val="4B5563"/>
                </a:solidFill>
                <a:latin typeface="Microsoft YaHei"/>
              </a:rPr>
              <a:t>JSON 日志输出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875520" y="1828800"/>
            <a:ext cx="1920240" cy="3931920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12700">
            <a:solidFill>
              <a:srgbClr val="E5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104120" y="1627632"/>
            <a:ext cx="1463040" cy="457200"/>
          </a:xfrm>
          <a:prstGeom prst="roundRect">
            <a:avLst>
              <a:gd name="adj" fmla="val 35000"/>
            </a:avLst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49840" y="162763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◆ 关键能力</a:t>
            </a:r>
          </a:p>
        </p:txBody>
      </p:sp>
      <p:sp>
        <p:nvSpPr>
          <p:cNvPr id="54" name="Oval 53"/>
          <p:cNvSpPr/>
          <p:nvPr/>
        </p:nvSpPr>
        <p:spPr>
          <a:xfrm>
            <a:off x="10035540" y="2327148"/>
            <a:ext cx="411480" cy="411480"/>
          </a:xfrm>
          <a:prstGeom prst="ellipse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⚡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61320" y="2331720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7"/>
                </a:solidFill>
                <a:latin typeface="Microsoft YaHei"/>
              </a:rPr>
              <a:t>本地实时推理 25+ FPS</a:t>
            </a:r>
          </a:p>
        </p:txBody>
      </p:sp>
      <p:sp>
        <p:nvSpPr>
          <p:cNvPr id="56" name="Oval 55"/>
          <p:cNvSpPr/>
          <p:nvPr/>
        </p:nvSpPr>
        <p:spPr>
          <a:xfrm>
            <a:off x="10035540" y="2994660"/>
            <a:ext cx="411480" cy="411480"/>
          </a:xfrm>
          <a:prstGeom prst="ellipse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≡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61320" y="2999232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7"/>
                </a:solidFill>
                <a:latin typeface="Microsoft YaHei"/>
              </a:rPr>
              <a:t>可解释风险评分</a:t>
            </a:r>
          </a:p>
        </p:txBody>
      </p:sp>
      <p:sp>
        <p:nvSpPr>
          <p:cNvPr id="58" name="Oval 57"/>
          <p:cNvSpPr/>
          <p:nvPr/>
        </p:nvSpPr>
        <p:spPr>
          <a:xfrm>
            <a:off x="10035540" y="3662172"/>
            <a:ext cx="411480" cy="411480"/>
          </a:xfrm>
          <a:prstGeom prst="ellipse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61320" y="3666744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7"/>
                </a:solidFill>
                <a:latin typeface="Microsoft YaHei"/>
              </a:rPr>
              <a:t>多行为并发检测</a:t>
            </a:r>
          </a:p>
        </p:txBody>
      </p:sp>
      <p:sp>
        <p:nvSpPr>
          <p:cNvPr id="60" name="Oval 59"/>
          <p:cNvSpPr/>
          <p:nvPr/>
        </p:nvSpPr>
        <p:spPr>
          <a:xfrm>
            <a:off x="10035540" y="4329684"/>
            <a:ext cx="411480" cy="411480"/>
          </a:xfrm>
          <a:prstGeom prst="ellipse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61320" y="4334256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7"/>
                </a:solidFill>
                <a:latin typeface="Microsoft YaHei"/>
              </a:rPr>
              <a:t>时序滑窗去抖</a:t>
            </a:r>
          </a:p>
        </p:txBody>
      </p:sp>
      <p:sp>
        <p:nvSpPr>
          <p:cNvPr id="62" name="Oval 61"/>
          <p:cNvSpPr/>
          <p:nvPr/>
        </p:nvSpPr>
        <p:spPr>
          <a:xfrm>
            <a:off x="10035540" y="4997196"/>
            <a:ext cx="411480" cy="411480"/>
          </a:xfrm>
          <a:prstGeom prst="ellipse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61320" y="5001768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7"/>
                </a:solidFill>
                <a:latin typeface="Microsoft YaHei"/>
              </a:rPr>
              <a:t>支持后续扩展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109728" cy="548640"/>
          </a:xfrm>
          <a:prstGeom prst="rect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64008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Microsoft YaHei"/>
              </a:rPr>
              <a:t>效果呈现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87552"/>
            <a:ext cx="9144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本地部署后的监控界面与结果展示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1417320"/>
            <a:ext cx="7150608" cy="0"/>
          </a:xfrm>
          <a:prstGeom prst="line">
            <a:avLst/>
          </a:prstGeom>
          <a:ln w="12700">
            <a:solidFill>
              <a:srgbClr val="D5D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818120" y="1353312"/>
            <a:ext cx="128016" cy="128016"/>
          </a:xfrm>
          <a:prstGeom prst="ellipse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04120" y="411480"/>
            <a:ext cx="91440" cy="91440"/>
          </a:xfrm>
          <a:prstGeom prst="rect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32136" y="411480"/>
            <a:ext cx="91440" cy="91440"/>
          </a:xfrm>
          <a:prstGeom prst="rect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60152" y="411480"/>
            <a:ext cx="91440" cy="91440"/>
          </a:xfrm>
          <a:prstGeom prst="rect">
            <a:avLst/>
          </a:prstGeom>
          <a:solidFill>
            <a:srgbClr val="B7B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488168" y="411480"/>
            <a:ext cx="91440" cy="91440"/>
          </a:xfrm>
          <a:prstGeom prst="rect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04120" y="539496"/>
            <a:ext cx="91440" cy="91440"/>
          </a:xfrm>
          <a:prstGeom prst="rect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232136" y="539496"/>
            <a:ext cx="91440" cy="91440"/>
          </a:xfrm>
          <a:prstGeom prst="rect">
            <a:avLst/>
          </a:prstGeom>
          <a:solidFill>
            <a:srgbClr val="B7B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60152" y="539496"/>
            <a:ext cx="91440" cy="91440"/>
          </a:xfrm>
          <a:prstGeom prst="rect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88168" y="539496"/>
            <a:ext cx="91440" cy="91440"/>
          </a:xfrm>
          <a:prstGeom prst="rect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104120" y="667512"/>
            <a:ext cx="91440" cy="91440"/>
          </a:xfrm>
          <a:prstGeom prst="rect">
            <a:avLst/>
          </a:prstGeom>
          <a:solidFill>
            <a:srgbClr val="B7B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232136" y="667512"/>
            <a:ext cx="91440" cy="91440"/>
          </a:xfrm>
          <a:prstGeom prst="rect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60152" y="667512"/>
            <a:ext cx="91440" cy="91440"/>
          </a:xfrm>
          <a:prstGeom prst="rect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488168" y="667512"/>
            <a:ext cx="91440" cy="91440"/>
          </a:xfrm>
          <a:prstGeom prst="rect">
            <a:avLst/>
          </a:prstGeom>
          <a:solidFill>
            <a:srgbClr val="B7B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35640" y="274320"/>
            <a:ext cx="868680" cy="868680"/>
          </a:xfrm>
          <a:prstGeom prst="ellipse">
            <a:avLst/>
          </a:prstGeom>
          <a:solidFill>
            <a:srgbClr val="EE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99648" y="338328"/>
            <a:ext cx="731520" cy="731520"/>
          </a:xfrm>
          <a:prstGeom prst="ellipse">
            <a:avLst/>
          </a:prstGeom>
          <a:solidFill>
            <a:srgbClr val="2D3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91088" y="429768"/>
            <a:ext cx="548640" cy="548640"/>
          </a:xfrm>
          <a:prstGeom prst="ellipse">
            <a:avLst/>
          </a:prstGeom>
          <a:solidFill>
            <a:srgbClr val="0F1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109960" y="502920"/>
            <a:ext cx="164592" cy="164592"/>
          </a:xfrm>
          <a:prstGeom prst="ellipse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063240" y="1783080"/>
            <a:ext cx="6126480" cy="4023360"/>
          </a:xfrm>
          <a:prstGeom prst="roundRect">
            <a:avLst>
              <a:gd name="adj" fmla="val 5000"/>
            </a:avLst>
          </a:prstGeom>
          <a:solidFill>
            <a:srgbClr val="17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063240" y="1783080"/>
            <a:ext cx="6126480" cy="502920"/>
          </a:xfrm>
          <a:prstGeom prst="roundRect">
            <a:avLst>
              <a:gd name="adj" fmla="val 5000"/>
            </a:avLst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178308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BECFFF"/>
                </a:solidFill>
                <a:latin typeface="Segoe UI"/>
              </a:rPr>
              <a:t>◆ DMS MONITOR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78308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80FF80"/>
                </a:solidFill>
                <a:latin typeface="Segoe UI"/>
              </a:rPr>
              <a:t>● LIVE   10:24:35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46120" y="2423160"/>
            <a:ext cx="3017520" cy="2148840"/>
          </a:xfrm>
          <a:prstGeom prst="roundRect">
            <a:avLst>
              <a:gd name="adj" fmla="val 3000"/>
            </a:avLst>
          </a:prstGeom>
          <a:solidFill>
            <a:srgbClr val="22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25146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80FF80"/>
                </a:solidFill>
                <a:latin typeface="Segoe UI"/>
              </a:rPr>
              <a:t>● LIVE</a:t>
            </a:r>
          </a:p>
        </p:txBody>
      </p:sp>
      <p:sp>
        <p:nvSpPr>
          <p:cNvPr id="30" name="Oval 29"/>
          <p:cNvSpPr/>
          <p:nvPr/>
        </p:nvSpPr>
        <p:spPr>
          <a:xfrm>
            <a:off x="4297680" y="2880360"/>
            <a:ext cx="914400" cy="914400"/>
          </a:xfrm>
          <a:prstGeom prst="ellipse">
            <a:avLst/>
          </a:prstGeom>
          <a:solidFill>
            <a:srgbClr val="35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931920" y="3611880"/>
            <a:ext cx="1691640" cy="914400"/>
          </a:xfrm>
          <a:prstGeom prst="roundRect">
            <a:avLst>
              <a:gd name="adj" fmla="val 20000"/>
            </a:avLst>
          </a:prstGeom>
          <a:solidFill>
            <a:srgbClr val="3B4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3657600" y="2651760"/>
            <a:ext cx="137160" cy="0"/>
          </a:xfrm>
          <a:prstGeom prst="line">
            <a:avLst/>
          </a:prstGeom>
          <a:ln w="25400">
            <a:solidFill>
              <a:srgbClr val="FF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657600" y="2651760"/>
            <a:ext cx="0" cy="137160"/>
          </a:xfrm>
          <a:prstGeom prst="line">
            <a:avLst/>
          </a:prstGeom>
          <a:ln w="25400">
            <a:solidFill>
              <a:srgbClr val="FF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983480" y="2651760"/>
            <a:ext cx="137160" cy="0"/>
          </a:xfrm>
          <a:prstGeom prst="line">
            <a:avLst/>
          </a:prstGeom>
          <a:ln w="25400">
            <a:solidFill>
              <a:srgbClr val="FF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983480" y="2651760"/>
            <a:ext cx="0" cy="137160"/>
          </a:xfrm>
          <a:prstGeom prst="line">
            <a:avLst/>
          </a:prstGeom>
          <a:ln w="25400">
            <a:solidFill>
              <a:srgbClr val="FF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657600" y="3931920"/>
            <a:ext cx="137160" cy="0"/>
          </a:xfrm>
          <a:prstGeom prst="line">
            <a:avLst/>
          </a:prstGeom>
          <a:ln w="25400">
            <a:solidFill>
              <a:srgbClr val="FF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57600" y="3931920"/>
            <a:ext cx="0" cy="137160"/>
          </a:xfrm>
          <a:prstGeom prst="line">
            <a:avLst/>
          </a:prstGeom>
          <a:ln w="25400">
            <a:solidFill>
              <a:srgbClr val="FF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983480" y="3931920"/>
            <a:ext cx="137160" cy="0"/>
          </a:xfrm>
          <a:prstGeom prst="line">
            <a:avLst/>
          </a:prstGeom>
          <a:ln w="25400">
            <a:solidFill>
              <a:srgbClr val="FF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983480" y="3931920"/>
            <a:ext cx="0" cy="137160"/>
          </a:xfrm>
          <a:prstGeom prst="line">
            <a:avLst/>
          </a:prstGeom>
          <a:ln w="25400">
            <a:solidFill>
              <a:srgbClr val="FF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3657600" y="2423160"/>
            <a:ext cx="914400" cy="201168"/>
          </a:xfrm>
          <a:prstGeom prst="roundRect">
            <a:avLst>
              <a:gd name="adj" fmla="val 30000"/>
            </a:avLst>
          </a:prstGeom>
          <a:solidFill>
            <a:srgbClr val="FF6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0" y="242316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calling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24688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ACD8"/>
                </a:solidFill>
                <a:latin typeface="Segoe UI"/>
              </a:rPr>
              <a:t>FPS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18120" y="24688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BECFFF"/>
                </a:solidFill>
                <a:latin typeface="Segoe UI"/>
              </a:rPr>
              <a:t>28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2926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ACD8"/>
                </a:solidFill>
                <a:latin typeface="Segoe UI"/>
              </a:rPr>
              <a:t>LATENCY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20" y="29260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BECFFF"/>
                </a:solidFill>
                <a:latin typeface="Segoe UI"/>
              </a:rPr>
              <a:t>35ms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33832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ACD8"/>
                </a:solidFill>
                <a:latin typeface="Segoe UI"/>
              </a:rPr>
              <a:t>FRAME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18120" y="33832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BECFFF"/>
                </a:solidFill>
                <a:latin typeface="Segoe UI"/>
              </a:rPr>
              <a:t>#1024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3886200"/>
            <a:ext cx="2743200" cy="868680"/>
          </a:xfrm>
          <a:prstGeom prst="roundRect">
            <a:avLst>
              <a:gd name="adj" fmla="val 6000"/>
            </a:avLst>
          </a:prstGeom>
          <a:solidFill>
            <a:srgbClr val="22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391363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C864"/>
                </a:solidFill>
                <a:latin typeface="Segoe UI"/>
              </a:rPr>
              <a:t>▲ ACTIVE ALERTS</a:t>
            </a:r>
          </a:p>
        </p:txBody>
      </p:sp>
      <p:sp>
        <p:nvSpPr>
          <p:cNvPr id="50" name="Oval 49"/>
          <p:cNvSpPr/>
          <p:nvPr/>
        </p:nvSpPr>
        <p:spPr>
          <a:xfrm>
            <a:off x="6510528" y="4206240"/>
            <a:ext cx="109728" cy="109728"/>
          </a:xfrm>
          <a:prstGeom prst="ellipse">
            <a:avLst/>
          </a:prstGeom>
          <a:solidFill>
            <a:srgbClr val="FF6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0" y="416052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DE4FF"/>
                </a:solidFill>
                <a:latin typeface="Segoe UI"/>
              </a:rPr>
              <a:t>calling   0.87   2.4s</a:t>
            </a:r>
          </a:p>
        </p:txBody>
      </p:sp>
      <p:sp>
        <p:nvSpPr>
          <p:cNvPr id="52" name="Oval 51"/>
          <p:cNvSpPr/>
          <p:nvPr/>
        </p:nvSpPr>
        <p:spPr>
          <a:xfrm>
            <a:off x="6510528" y="4434840"/>
            <a:ext cx="109728" cy="109728"/>
          </a:xfrm>
          <a:prstGeom prst="ellipse">
            <a:avLst/>
          </a:prstGeom>
          <a:solidFill>
            <a:srgbClr val="FFC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0" y="438912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DE4FF"/>
                </a:solidFill>
                <a:latin typeface="Segoe UI"/>
              </a:rPr>
              <a:t>no_seatbelt   0.75   3.1s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46120" y="4800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C864"/>
                </a:solidFill>
                <a:latin typeface="Segoe UI"/>
              </a:rPr>
              <a:t>RISK 68/100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246120" y="5074920"/>
            <a:ext cx="4114800" cy="182880"/>
          </a:xfrm>
          <a:prstGeom prst="roundRect">
            <a:avLst>
              <a:gd name="adj" fmla="val 40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246120" y="5074920"/>
            <a:ext cx="2788920" cy="182880"/>
          </a:xfrm>
          <a:prstGeom prst="roundRect">
            <a:avLst>
              <a:gd name="adj" fmla="val 40000"/>
            </a:avLst>
          </a:prstGeom>
          <a:solidFill>
            <a:srgbClr val="FFC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52360" y="504748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C864"/>
                </a:solidFill>
                <a:latin typeface="Segoe UI"/>
              </a:rPr>
              <a:t>[ WARNING 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63240" y="5349240"/>
            <a:ext cx="6126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6464"/>
                </a:solidFill>
                <a:latin typeface="Segoe UI"/>
              </a:rPr>
              <a:t>CALLING</a:t>
            </a:r>
          </a:p>
        </p:txBody>
      </p:sp>
      <p:sp>
        <p:nvSpPr>
          <p:cNvPr id="59" name="Oval 58"/>
          <p:cNvSpPr/>
          <p:nvPr/>
        </p:nvSpPr>
        <p:spPr>
          <a:xfrm>
            <a:off x="8869680" y="5532120"/>
            <a:ext cx="118872" cy="118872"/>
          </a:xfrm>
          <a:prstGeom prst="ellipse">
            <a:avLst/>
          </a:prstGeom>
          <a:solidFill>
            <a:srgbClr val="FF6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06840" y="54681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6464"/>
                </a:solidFill>
                <a:latin typeface="Segoe UI"/>
              </a:rPr>
              <a:t>REC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1874519"/>
            <a:ext cx="23774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94360" y="2011679"/>
            <a:ext cx="365760" cy="365760"/>
          </a:xfrm>
          <a:prstGeom prst="roundRect">
            <a:avLst>
              <a:gd name="adj" fmla="val 40000"/>
            </a:avLst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360" y="2011679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4128" y="201167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Microsoft YaHei"/>
              </a:rPr>
              <a:t>实时视频 + bbox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4360" y="242316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B5563"/>
                </a:solidFill>
                <a:latin typeface="Microsoft YaHei"/>
              </a:rPr>
              <a:t>四角强调线，类别标签 calling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2834640" y="2286000"/>
            <a:ext cx="502920" cy="164592"/>
          </a:xfrm>
          <a:prstGeom prst="rightArrow">
            <a:avLst/>
          </a:prstGeom>
          <a:solidFill>
            <a:srgbClr val="B5B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57200" y="3886200"/>
            <a:ext cx="23774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594360" y="4023360"/>
            <a:ext cx="365760" cy="365760"/>
          </a:xfrm>
          <a:prstGeom prst="roundRect">
            <a:avLst>
              <a:gd name="adj" fmla="val 40000"/>
            </a:avLst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436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24128" y="4023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Microsoft YaHei"/>
              </a:rPr>
              <a:t>ACTIVE ALERTS 面板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4360" y="443484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B5563"/>
                </a:solidFill>
                <a:latin typeface="Microsoft YaHei"/>
              </a:rPr>
              <a:t>多行为并列，含置信度与持续时间</a:t>
            </a:r>
          </a:p>
        </p:txBody>
      </p:sp>
      <p:sp>
        <p:nvSpPr>
          <p:cNvPr id="72" name="Right Arrow 71"/>
          <p:cNvSpPr/>
          <p:nvPr/>
        </p:nvSpPr>
        <p:spPr>
          <a:xfrm>
            <a:off x="2834640" y="4297680"/>
            <a:ext cx="502920" cy="164592"/>
          </a:xfrm>
          <a:prstGeom prst="rightArrow">
            <a:avLst/>
          </a:prstGeom>
          <a:solidFill>
            <a:srgbClr val="B5B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9601200" y="1874519"/>
            <a:ext cx="23774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738360" y="2011679"/>
            <a:ext cx="365760" cy="365760"/>
          </a:xfrm>
          <a:prstGeom prst="roundRect">
            <a:avLst>
              <a:gd name="adj" fmla="val 40000"/>
            </a:avLst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738360" y="2011679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68128" y="201167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Microsoft YaHei"/>
              </a:rPr>
              <a:t>风险仪表条 0-100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738360" y="242316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B5563"/>
                </a:solidFill>
                <a:latin typeface="Microsoft YaHei"/>
              </a:rPr>
              <a:t>5 档 tier 映射，颜色动态</a:t>
            </a:r>
          </a:p>
        </p:txBody>
      </p:sp>
      <p:sp>
        <p:nvSpPr>
          <p:cNvPr id="78" name="Left Arrow 77"/>
          <p:cNvSpPr/>
          <p:nvPr/>
        </p:nvSpPr>
        <p:spPr>
          <a:xfrm>
            <a:off x="9098280" y="2286000"/>
            <a:ext cx="502920" cy="164592"/>
          </a:xfrm>
          <a:prstGeom prst="leftArrow">
            <a:avLst/>
          </a:prstGeom>
          <a:solidFill>
            <a:srgbClr val="B5B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9601200" y="3383280"/>
            <a:ext cx="23774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9738360" y="3520440"/>
            <a:ext cx="365760" cy="365760"/>
          </a:xfrm>
          <a:prstGeom prst="roundRect">
            <a:avLst>
              <a:gd name="adj" fmla="val 40000"/>
            </a:avLst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73836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168128" y="35204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Microsoft YaHei"/>
              </a:rPr>
              <a:t>状态指示灯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738360" y="393192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B5563"/>
                </a:solidFill>
                <a:latin typeface="Microsoft YaHei"/>
              </a:rPr>
              <a:t>DRIVER / CAMERA / SMOKE-DET</a:t>
            </a:r>
          </a:p>
        </p:txBody>
      </p:sp>
      <p:sp>
        <p:nvSpPr>
          <p:cNvPr id="84" name="Left Arrow 83"/>
          <p:cNvSpPr/>
          <p:nvPr/>
        </p:nvSpPr>
        <p:spPr>
          <a:xfrm>
            <a:off x="9098280" y="3794760"/>
            <a:ext cx="502920" cy="164592"/>
          </a:xfrm>
          <a:prstGeom prst="leftArrow">
            <a:avLst/>
          </a:prstGeom>
          <a:solidFill>
            <a:srgbClr val="B5B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9601200" y="4892040"/>
            <a:ext cx="23774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9738360" y="5029200"/>
            <a:ext cx="365760" cy="365760"/>
          </a:xfrm>
          <a:prstGeom prst="roundRect">
            <a:avLst>
              <a:gd name="adj" fmla="val 40000"/>
            </a:avLst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73836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168128" y="50292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Microsoft YaHei"/>
              </a:rPr>
              <a:t>日志与录制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738360" y="5440679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B5563"/>
                </a:solidFill>
                <a:latin typeface="Microsoft YaHei"/>
              </a:rPr>
              <a:t>JSON 行式追加 + 截图</a:t>
            </a:r>
          </a:p>
        </p:txBody>
      </p:sp>
      <p:sp>
        <p:nvSpPr>
          <p:cNvPr id="90" name="Left Arrow 89"/>
          <p:cNvSpPr/>
          <p:nvPr/>
        </p:nvSpPr>
        <p:spPr>
          <a:xfrm>
            <a:off x="9098280" y="5303520"/>
            <a:ext cx="502920" cy="164592"/>
          </a:xfrm>
          <a:prstGeom prst="leftArrow">
            <a:avLst/>
          </a:prstGeom>
          <a:solidFill>
            <a:srgbClr val="B5B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1097280" y="5989320"/>
            <a:ext cx="10058400" cy="640080"/>
          </a:xfrm>
          <a:prstGeom prst="roundRect">
            <a:avLst>
              <a:gd name="adj" fmla="val 45000"/>
            </a:avLst>
          </a:prstGeom>
          <a:solidFill>
            <a:srgbClr val="FBFCFF"/>
          </a:solidFill>
          <a:ln w="12700">
            <a:solidFill>
              <a:srgbClr val="D0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210056" y="6117336"/>
            <a:ext cx="384048" cy="384048"/>
          </a:xfrm>
          <a:prstGeom prst="ellipse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⏱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676400" y="614476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Microsoft YaHei"/>
              </a:rPr>
              <a:t>实时监测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4450080" y="6172200"/>
            <a:ext cx="0" cy="274320"/>
          </a:xfrm>
          <a:prstGeom prst="line">
            <a:avLst/>
          </a:prstGeom>
          <a:ln w="9525">
            <a:solidFill>
              <a:srgbClr val="D5DA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4562855" y="6117336"/>
            <a:ext cx="384048" cy="384048"/>
          </a:xfrm>
          <a:prstGeom prst="ellipse">
            <a:avLst/>
          </a:prstGeom>
          <a:solidFill>
            <a:srgbClr val="6B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⬛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029199" y="614476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Microsoft YaHei"/>
              </a:rPr>
              <a:t>本地部署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7802880" y="6172200"/>
            <a:ext cx="0" cy="274320"/>
          </a:xfrm>
          <a:prstGeom prst="line">
            <a:avLst/>
          </a:prstGeom>
          <a:ln w="9525">
            <a:solidFill>
              <a:srgbClr val="D5DA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Oval 97"/>
          <p:cNvSpPr/>
          <p:nvPr/>
        </p:nvSpPr>
        <p:spPr>
          <a:xfrm>
            <a:off x="7915656" y="6117336"/>
            <a:ext cx="384048" cy="384048"/>
          </a:xfrm>
          <a:prstGeom prst="ellipse">
            <a:avLst/>
          </a:prstGeom>
          <a:solidFill>
            <a:srgbClr val="4A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☰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382000" y="614476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Microsoft YaHei"/>
              </a:rPr>
              <a:t>实验分析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