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0"/>
  </p:handoutMasterIdLst>
  <p:sldIdLst>
    <p:sldId id="475" r:id="rId4"/>
    <p:sldId id="476" r:id="rId6"/>
    <p:sldId id="258" r:id="rId7"/>
    <p:sldId id="259" r:id="rId8"/>
    <p:sldId id="477" r:id="rId9"/>
    <p:sldId id="484" r:id="rId10"/>
    <p:sldId id="478" r:id="rId11"/>
    <p:sldId id="485" r:id="rId12"/>
    <p:sldId id="489" r:id="rId13"/>
    <p:sldId id="488" r:id="rId14"/>
    <p:sldId id="479" r:id="rId15"/>
    <p:sldId id="486" r:id="rId16"/>
    <p:sldId id="480" r:id="rId17"/>
    <p:sldId id="260" r:id="rId18"/>
    <p:sldId id="4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0EA"/>
    <a:srgbClr val="ECF1F9"/>
    <a:srgbClr val="6A2686"/>
    <a:srgbClr val="13227A"/>
    <a:srgbClr val="652C80"/>
    <a:srgbClr val="642882"/>
    <a:srgbClr val="044E95"/>
    <a:srgbClr val="ECE5F2"/>
    <a:srgbClr val="E4C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376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951F1-2E04-4B4A-B387-331835AB8E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A69EC-2949-4E08-AA1F-7F94346E1B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8CE79-7549-4320-ADD3-B30CE1BB37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C84BB-48EB-4C98-A8FD-E992D60292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算法还可以再细化一点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hemeOverride" Target="../theme/themeOverride2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卓越工程师学院VI（临时）2-2-2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280900" cy="6857999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6350" y="99246"/>
            <a:ext cx="4120515" cy="7785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8450" y="2743199"/>
            <a:ext cx="9144000" cy="103987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450" y="4098706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0757"/>
            <a:ext cx="10515600" cy="650875"/>
          </a:xfrm>
        </p:spPr>
        <p:txBody>
          <a:bodyPr>
            <a:noAutofit/>
          </a:bodyPr>
          <a:lstStyle>
            <a:lvl1pPr>
              <a:defRPr lang="zh-CN" altLang="en-US" sz="36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8325"/>
            <a:ext cx="10515600" cy="4995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8588" y="100843"/>
            <a:ext cx="3000375" cy="52856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8200" y="881633"/>
            <a:ext cx="10515600" cy="55807"/>
          </a:xfrm>
          <a:prstGeom prst="rect">
            <a:avLst/>
          </a:prstGeom>
          <a:gradFill>
            <a:gsLst>
              <a:gs pos="0">
                <a:srgbClr val="6A2686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543950" y="549809"/>
            <a:ext cx="294250" cy="387631"/>
          </a:xfrm>
          <a:prstGeom prst="rect">
            <a:avLst/>
          </a:prstGeom>
          <a:solidFill>
            <a:srgbClr val="6A2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8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8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8588" y="100843"/>
            <a:ext cx="3000375" cy="52856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卓越工程师学院VI（临时）2-2-2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280900" cy="6857999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6350" y="99246"/>
            <a:ext cx="4120515" cy="7785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68450" y="2743199"/>
            <a:ext cx="9144000" cy="103987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450" y="4098706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0757"/>
            <a:ext cx="10515600" cy="650875"/>
          </a:xfrm>
        </p:spPr>
        <p:txBody>
          <a:bodyPr>
            <a:noAutofit/>
          </a:bodyPr>
          <a:lstStyle>
            <a:lvl1pPr>
              <a:defRPr lang="zh-CN" altLang="en-US" sz="36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68325"/>
            <a:ext cx="10515600" cy="499516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lnSpc>
                <a:spcPct val="150000"/>
              </a:lnSpc>
              <a:buClr>
                <a:srgbClr val="044E95"/>
              </a:buClr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008588" y="100843"/>
            <a:ext cx="3000375" cy="52856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8200" y="881633"/>
            <a:ext cx="10515600" cy="55807"/>
          </a:xfrm>
          <a:prstGeom prst="rect">
            <a:avLst/>
          </a:prstGeom>
          <a:gradFill>
            <a:gsLst>
              <a:gs pos="0">
                <a:srgbClr val="6A2686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543950" y="549809"/>
            <a:ext cx="294250" cy="387631"/>
          </a:xfrm>
          <a:prstGeom prst="rect">
            <a:avLst/>
          </a:prstGeom>
          <a:solidFill>
            <a:srgbClr val="6A2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8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800" kern="1200" dirty="0">
                <a:solidFill>
                  <a:srgbClr val="6A268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008588" y="100843"/>
            <a:ext cx="3000375" cy="52856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2A240-2F19-4680-BCCD-8290525207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74445-FC7C-46E4-8E23-442D152666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image" Target="../media/image10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4.xml"/><Relationship Id="rId24" Type="http://schemas.openxmlformats.org/officeDocument/2006/relationships/image" Target="../media/image41.png"/><Relationship Id="rId23" Type="http://schemas.openxmlformats.org/officeDocument/2006/relationships/image" Target="../media/image40.png"/><Relationship Id="rId22" Type="http://schemas.openxmlformats.org/officeDocument/2006/relationships/image" Target="../media/image39.png"/><Relationship Id="rId21" Type="http://schemas.openxmlformats.org/officeDocument/2006/relationships/image" Target="../media/image38.png"/><Relationship Id="rId20" Type="http://schemas.openxmlformats.org/officeDocument/2006/relationships/image" Target="../media/image37.png"/><Relationship Id="rId2" Type="http://schemas.openxmlformats.org/officeDocument/2006/relationships/image" Target="../media/image19.png"/><Relationship Id="rId19" Type="http://schemas.openxmlformats.org/officeDocument/2006/relationships/image" Target="../media/image36.png"/><Relationship Id="rId18" Type="http://schemas.openxmlformats.org/officeDocument/2006/relationships/image" Target="../media/image35.png"/><Relationship Id="rId17" Type="http://schemas.openxmlformats.org/officeDocument/2006/relationships/image" Target="../media/image34.png"/><Relationship Id="rId16" Type="http://schemas.openxmlformats.org/officeDocument/2006/relationships/image" Target="../media/image33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42.png"/><Relationship Id="rId3" Type="http://schemas.openxmlformats.org/officeDocument/2006/relationships/tags" Target="../tags/tag40.xml"/><Relationship Id="rId2" Type="http://schemas.microsoft.com/office/2007/relationships/media" Target="../media/media1.mp4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1555751"/>
            <a:ext cx="10668000" cy="1778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7000"/>
              </a:lnSpc>
            </a:pPr>
            <a:endParaRPr lang="en-US" sz="500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驾驶状态推演与行为测算</a:t>
            </a:r>
            <a:r>
              <a:rPr lang="zh-CN" altLang="en-US" dirty="0"/>
              <a:t>平台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68450" y="4095571"/>
            <a:ext cx="9144000" cy="1655762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组：张孝航</a:t>
            </a:r>
            <a:r>
              <a:rPr lang="en-US" altLang="zh-CN" dirty="0"/>
              <a:t> </a:t>
            </a:r>
            <a:r>
              <a:rPr lang="zh-CN" altLang="en-US" dirty="0"/>
              <a:t>左贵旭</a:t>
            </a:r>
            <a:r>
              <a:rPr lang="en-US" altLang="zh-CN" dirty="0"/>
              <a:t> </a:t>
            </a:r>
            <a:r>
              <a:rPr lang="zh-CN" altLang="en-US" dirty="0"/>
              <a:t>吴志鹏</a:t>
            </a:r>
            <a:r>
              <a:rPr lang="en-US" altLang="zh-CN" dirty="0"/>
              <a:t> </a:t>
            </a:r>
            <a:r>
              <a:rPr lang="zh-CN" altLang="en-US" dirty="0"/>
              <a:t>陈祥宇</a:t>
            </a:r>
            <a:r>
              <a:rPr lang="en-US" altLang="zh-CN" dirty="0"/>
              <a:t> </a:t>
            </a:r>
            <a:r>
              <a:rPr lang="zh-CN" altLang="en-US" dirty="0"/>
              <a:t>温世彪</a:t>
            </a:r>
            <a:r>
              <a:rPr lang="en-US" altLang="zh-CN" dirty="0"/>
              <a:t> </a:t>
            </a:r>
            <a:r>
              <a:rPr lang="zh-CN" altLang="en-US" dirty="0"/>
              <a:t>白一帆</a:t>
            </a:r>
            <a:r>
              <a:rPr lang="en-US" altLang="zh-CN" dirty="0"/>
              <a:t> </a:t>
            </a:r>
            <a:r>
              <a:rPr lang="zh-CN" altLang="en-US" dirty="0"/>
              <a:t>曹宇佳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卓越工程师学院VI（临时）2-2-29"/>
          <p:cNvPicPr>
            <a:picLocks noChangeAspect="1"/>
          </p:cNvPicPr>
          <p:nvPr/>
        </p:nvPicPr>
        <p:blipFill rotWithShape="1">
          <a:blip r:embed="rId1"/>
          <a:srcRect l="69027"/>
          <a:stretch>
            <a:fillRect/>
          </a:stretch>
        </p:blipFill>
        <p:spPr>
          <a:xfrm>
            <a:off x="1" y="1"/>
            <a:ext cx="3803832" cy="68579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1" y="4578351"/>
            <a:ext cx="24765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568951"/>
            <a:ext cx="241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4699001" y="1296671"/>
            <a:ext cx="4699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400" b="1" dirty="0">
                <a:solidFill>
                  <a:srgbClr val="6A26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b="1" dirty="0">
              <a:solidFill>
                <a:srgbClr val="6A268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5321301" y="1468755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</a:t>
            </a: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21301" y="17221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4699001" y="2134871"/>
            <a:ext cx="4699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400" b="1" dirty="0">
                <a:solidFill>
                  <a:srgbClr val="6A26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b="1" dirty="0">
              <a:solidFill>
                <a:srgbClr val="6A268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5321301" y="2306955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需求分析与</a:t>
            </a: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交互设计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21301" y="25603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4699001" y="2973071"/>
            <a:ext cx="4699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400" b="1" dirty="0">
                <a:solidFill>
                  <a:srgbClr val="6A26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b="1" dirty="0">
              <a:solidFill>
                <a:srgbClr val="6A268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5321300" y="3147060"/>
            <a:ext cx="6108700" cy="5848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技术路线与架构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>
              <a:lnSpc>
                <a:spcPts val="2200"/>
              </a:lnSpc>
            </a:pP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321301" y="33985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699001" y="3811271"/>
            <a:ext cx="4699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400" b="1" dirty="0">
                <a:solidFill>
                  <a:srgbClr val="6A26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400" b="1" dirty="0">
              <a:solidFill>
                <a:srgbClr val="6A268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5321301" y="3983355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预期效果展示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21301" y="42367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321301" y="50749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321301" y="5913120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2400" dirty="0"/>
          </a:p>
        </p:txBody>
      </p:sp>
      <p:sp>
        <p:nvSpPr>
          <p:cNvPr id="29" name="Text 12"/>
          <p:cNvSpPr/>
          <p:nvPr>
            <p:custDataLst>
              <p:tags r:id="rId10"/>
            </p:custDataLst>
          </p:nvPr>
        </p:nvSpPr>
        <p:spPr>
          <a:xfrm>
            <a:off x="4699001" y="4649471"/>
            <a:ext cx="4699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050"/>
              </a:lnSpc>
            </a:pPr>
            <a:r>
              <a:rPr lang="en-US" sz="2400" b="1" dirty="0">
                <a:solidFill>
                  <a:srgbClr val="6A26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400" b="1" dirty="0">
              <a:solidFill>
                <a:srgbClr val="6A268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13"/>
          <p:cNvSpPr/>
          <p:nvPr>
            <p:custDataLst>
              <p:tags r:id="rId11"/>
            </p:custDataLst>
          </p:nvPr>
        </p:nvSpPr>
        <p:spPr>
          <a:xfrm>
            <a:off x="5321301" y="4821555"/>
            <a:ext cx="61087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项目分工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4419600"/>
            <a:ext cx="635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4013200"/>
            <a:ext cx="4972051" cy="3810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30000"/>
              </a:lnSpc>
            </a:pPr>
            <a:r>
              <a:rPr lang="en-US" sz="3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0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/>
          <p:cNvSpPr/>
          <p:nvPr>
            <p:custDataLst>
              <p:tags r:id="rId1"/>
            </p:custDataLst>
          </p:nvPr>
        </p:nvSpPr>
        <p:spPr>
          <a:xfrm>
            <a:off x="7652385" y="2708910"/>
            <a:ext cx="1883410" cy="2861310"/>
          </a:xfrm>
          <a:prstGeom prst="roundRect">
            <a:avLst/>
          </a:prstGeom>
          <a:solidFill>
            <a:srgbClr val="ECE5F2"/>
          </a:solidFill>
          <a:ln>
            <a:solidFill>
              <a:srgbClr val="6A2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>
            <p:custDataLst>
              <p:tags r:id="rId2"/>
            </p:custDataLst>
          </p:nvPr>
        </p:nvSpPr>
        <p:spPr>
          <a:xfrm>
            <a:off x="5255260" y="2708910"/>
            <a:ext cx="1883410" cy="2861310"/>
          </a:xfrm>
          <a:prstGeom prst="roundRect">
            <a:avLst/>
          </a:prstGeom>
          <a:solidFill>
            <a:srgbClr val="ECE5F2"/>
          </a:solidFill>
          <a:ln>
            <a:solidFill>
              <a:srgbClr val="6A2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>
            <p:custDataLst>
              <p:tags r:id="rId3"/>
            </p:custDataLst>
          </p:nvPr>
        </p:nvSpPr>
        <p:spPr>
          <a:xfrm>
            <a:off x="2823845" y="2701925"/>
            <a:ext cx="1883410" cy="2861310"/>
          </a:xfrm>
          <a:prstGeom prst="roundRect">
            <a:avLst/>
          </a:prstGeom>
          <a:solidFill>
            <a:srgbClr val="ECE5F2"/>
          </a:solidFill>
          <a:ln>
            <a:solidFill>
              <a:srgbClr val="6A2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>
            <p:custDataLst>
              <p:tags r:id="rId4"/>
            </p:custDataLst>
          </p:nvPr>
        </p:nvSpPr>
        <p:spPr>
          <a:xfrm>
            <a:off x="364490" y="2701925"/>
            <a:ext cx="1883410" cy="2861310"/>
          </a:xfrm>
          <a:prstGeom prst="roundRect">
            <a:avLst/>
          </a:prstGeom>
          <a:solidFill>
            <a:srgbClr val="ECE5F2"/>
          </a:solidFill>
          <a:ln>
            <a:solidFill>
              <a:srgbClr val="6A2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4" name="Text 1"/>
          <p:cNvSpPr/>
          <p:nvPr/>
        </p:nvSpPr>
        <p:spPr>
          <a:xfrm>
            <a:off x="764540" y="1066800"/>
            <a:ext cx="10668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以驾驶状态推演与行为测算为导向，创建海量自定义数据集，多算法组合计算驾驶数据，通过模型计算与调优，最终呈现可视化驾驶数据评分报告及驾驶行为评估列表。以软件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工程流程为里程碑，计划各阶段流程与产出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如下：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636270" y="3105150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需求分析与交互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528320" y="3860800"/>
            <a:ext cx="1475740" cy="11836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PRD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交互设计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原型图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5"/>
          <p:cNvSpPr/>
          <p:nvPr>
            <p:custDataLst>
              <p:tags r:id="rId7"/>
            </p:custDataLst>
          </p:nvPr>
        </p:nvSpPr>
        <p:spPr>
          <a:xfrm>
            <a:off x="3157855" y="3105150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6"/>
          <p:cNvSpPr/>
          <p:nvPr>
            <p:custDataLst>
              <p:tags r:id="rId8"/>
            </p:custDataLst>
          </p:nvPr>
        </p:nvSpPr>
        <p:spPr>
          <a:xfrm>
            <a:off x="3067050" y="3860800"/>
            <a:ext cx="1475740" cy="11836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</a:t>
            </a:r>
            <a:r>
              <a:rPr lang="zh-CN" alt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</a:t>
            </a:r>
            <a:endParaRPr lang="zh-CN" altLang="en-US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9"/>
            </p:custDataLst>
          </p:nvPr>
        </p:nvSpPr>
        <p:spPr>
          <a:xfrm>
            <a:off x="5499100" y="3105150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编码与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8"/>
          <p:cNvSpPr/>
          <p:nvPr>
            <p:custDataLst>
              <p:tags r:id="rId10"/>
            </p:custDataLst>
          </p:nvPr>
        </p:nvSpPr>
        <p:spPr>
          <a:xfrm>
            <a:off x="5419090" y="3885565"/>
            <a:ext cx="1475740" cy="11836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源代码</a:t>
            </a:r>
            <a:endParaRPr lang="zh-CN" altLang="en-US" sz="1400" dirty="0" err="1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模型权重文件</a:t>
            </a:r>
            <a:endParaRPr lang="zh-CN" altLang="en-US" sz="1400" dirty="0" err="1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</a:t>
            </a:r>
            <a:r>
              <a:rPr lang="en-US" altLang="zh-CN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zh-CN" altLang="en-US" sz="14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</a:t>
            </a:r>
            <a:endParaRPr lang="zh-CN" altLang="en-US" sz="1400" dirty="0" err="1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9"/>
          <p:cNvSpPr/>
          <p:nvPr>
            <p:custDataLst>
              <p:tags r:id="rId11"/>
            </p:custDataLst>
          </p:nvPr>
        </p:nvSpPr>
        <p:spPr>
          <a:xfrm>
            <a:off x="7911465" y="3105150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测试与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调优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0"/>
          <p:cNvSpPr/>
          <p:nvPr>
            <p:custDataLst>
              <p:tags r:id="rId12"/>
            </p:custDataLst>
          </p:nvPr>
        </p:nvSpPr>
        <p:spPr>
          <a:xfrm>
            <a:off x="7816215" y="3977005"/>
            <a:ext cx="1475740" cy="9004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测试用例</a:t>
            </a:r>
            <a:endParaRPr lang="zh-CN" altLang="en-US" sz="14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追踪</a:t>
            </a:r>
            <a:r>
              <a:rPr lang="zh-CN" altLang="en-US" sz="1400" dirty="0"/>
              <a:t>列表</a:t>
            </a:r>
            <a:endParaRPr lang="zh-CN" altLang="en-US" sz="14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评估</a:t>
            </a:r>
            <a:r>
              <a:rPr lang="zh-CN" altLang="en-US" sz="1400" dirty="0"/>
              <a:t>报告</a:t>
            </a:r>
            <a:endParaRPr lang="zh-CN" altLang="en-US" sz="1400" dirty="0"/>
          </a:p>
        </p:txBody>
      </p:sp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8200" y="230757"/>
            <a:ext cx="10515600" cy="650875"/>
          </a:xfrm>
        </p:spPr>
        <p:txBody>
          <a:bodyPr/>
          <a:lstStyle/>
          <a:p>
            <a:r>
              <a:rPr lang="zh-CN" altLang="en-US" dirty="0"/>
              <a:t>整体设计</a:t>
            </a:r>
            <a:endParaRPr lang="zh-CN" altLang="en-US" dirty="0"/>
          </a:p>
        </p:txBody>
      </p:sp>
      <p:sp>
        <p:nvSpPr>
          <p:cNvPr id="6" name="矩形: 圆角 28"/>
          <p:cNvSpPr/>
          <p:nvPr>
            <p:custDataLst>
              <p:tags r:id="rId13"/>
            </p:custDataLst>
          </p:nvPr>
        </p:nvSpPr>
        <p:spPr>
          <a:xfrm>
            <a:off x="10074275" y="2694940"/>
            <a:ext cx="1892935" cy="2868295"/>
          </a:xfrm>
          <a:prstGeom prst="roundRect">
            <a:avLst/>
          </a:prstGeom>
          <a:solidFill>
            <a:srgbClr val="ECE5F2"/>
          </a:solidFill>
          <a:ln>
            <a:solidFill>
              <a:srgbClr val="6A2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9"/>
          <p:cNvSpPr/>
          <p:nvPr>
            <p:custDataLst>
              <p:tags r:id="rId14"/>
            </p:custDataLst>
          </p:nvPr>
        </p:nvSpPr>
        <p:spPr>
          <a:xfrm>
            <a:off x="10328910" y="3105150"/>
            <a:ext cx="1482725" cy="3416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&amp;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5"/>
            </p:custDataLst>
          </p:nvPr>
        </p:nvSpPr>
        <p:spPr>
          <a:xfrm>
            <a:off x="10238105" y="4018280"/>
            <a:ext cx="1482725" cy="9023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可视化</a:t>
            </a:r>
            <a:r>
              <a:rPr lang="zh-CN" altLang="en-US" sz="1400" dirty="0"/>
              <a:t>系统</a:t>
            </a:r>
            <a:endParaRPr lang="zh-CN" altLang="en-US" sz="14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驾驶行为检测</a:t>
            </a:r>
            <a:r>
              <a:rPr lang="zh-CN" altLang="en-US" sz="1400" dirty="0"/>
              <a:t>报告</a:t>
            </a:r>
            <a:endParaRPr lang="zh-CN" altLang="en-US" sz="1400" dirty="0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驾驶状态</a:t>
            </a:r>
            <a:r>
              <a:rPr lang="zh-CN" altLang="en-US" sz="1400" dirty="0"/>
              <a:t>评分</a:t>
            </a:r>
            <a:endParaRPr lang="zh-CN" altLang="en-US" sz="1400" dirty="0"/>
          </a:p>
        </p:txBody>
      </p:sp>
      <p:sp>
        <p:nvSpPr>
          <p:cNvPr id="15" name="燕尾形 14"/>
          <p:cNvSpPr/>
          <p:nvPr>
            <p:custDataLst>
              <p:tags r:id="rId16"/>
            </p:custDataLst>
          </p:nvPr>
        </p:nvSpPr>
        <p:spPr>
          <a:xfrm>
            <a:off x="2365375" y="3860800"/>
            <a:ext cx="334645" cy="647700"/>
          </a:xfrm>
          <a:prstGeom prst="chevron">
            <a:avLst/>
          </a:prstGeom>
          <a:solidFill>
            <a:srgbClr val="FFFFFF"/>
          </a:solidFill>
          <a:ln>
            <a:solidFill>
              <a:srgbClr val="64288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>
            <p:custDataLst>
              <p:tags r:id="rId17"/>
            </p:custDataLst>
          </p:nvPr>
        </p:nvSpPr>
        <p:spPr>
          <a:xfrm>
            <a:off x="4796790" y="3860800"/>
            <a:ext cx="334645" cy="647700"/>
          </a:xfrm>
          <a:prstGeom prst="chevron">
            <a:avLst/>
          </a:prstGeom>
          <a:solidFill>
            <a:srgbClr val="FFFFFF"/>
          </a:solidFill>
          <a:ln>
            <a:solidFill>
              <a:srgbClr val="64288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燕尾形 18"/>
          <p:cNvSpPr/>
          <p:nvPr>
            <p:custDataLst>
              <p:tags r:id="rId18"/>
            </p:custDataLst>
          </p:nvPr>
        </p:nvSpPr>
        <p:spPr>
          <a:xfrm>
            <a:off x="7221220" y="3885565"/>
            <a:ext cx="334645" cy="647700"/>
          </a:xfrm>
          <a:prstGeom prst="chevron">
            <a:avLst/>
          </a:prstGeom>
          <a:solidFill>
            <a:srgbClr val="FFFFFF"/>
          </a:solidFill>
          <a:ln>
            <a:solidFill>
              <a:srgbClr val="64288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燕尾形 19"/>
          <p:cNvSpPr/>
          <p:nvPr>
            <p:custDataLst>
              <p:tags r:id="rId19"/>
            </p:custDataLst>
          </p:nvPr>
        </p:nvSpPr>
        <p:spPr>
          <a:xfrm>
            <a:off x="9667240" y="3860800"/>
            <a:ext cx="334645" cy="647700"/>
          </a:xfrm>
          <a:prstGeom prst="chevron">
            <a:avLst/>
          </a:prstGeom>
          <a:solidFill>
            <a:srgbClr val="FFFFFF"/>
          </a:solidFill>
          <a:ln>
            <a:solidFill>
              <a:srgbClr val="642882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4419600"/>
            <a:ext cx="6350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需求分析与交互</a:t>
            </a: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4013200"/>
            <a:ext cx="4972051" cy="3810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30000"/>
              </a:lnSpc>
            </a:pPr>
            <a:r>
              <a:rPr lang="en-US" sz="3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0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需求分析与交互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91770" y="1207770"/>
            <a:ext cx="2898140" cy="5460365"/>
          </a:xfrm>
          <a:prstGeom prst="roundRect">
            <a:avLst/>
          </a:prstGeom>
          <a:solidFill>
            <a:srgbClr val="652C80">
              <a:alpha val="1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 3"/>
          <p:cNvSpPr/>
          <p:nvPr>
            <p:custDataLst>
              <p:tags r:id="rId1"/>
            </p:custDataLst>
          </p:nvPr>
        </p:nvSpPr>
        <p:spPr>
          <a:xfrm>
            <a:off x="876935" y="1400175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5915" y="2419985"/>
            <a:ext cx="2558415" cy="431800"/>
          </a:xfrm>
          <a:prstGeom prst="roundRect">
            <a:avLst/>
          </a:prstGeom>
          <a:solidFill>
            <a:srgbClr val="652C8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      </a:t>
            </a:r>
            <a:r>
              <a:rPr lang="zh-CN" altLang="en-US" b="1"/>
              <a:t>视频上传</a:t>
            </a:r>
            <a:r>
              <a:rPr lang="en-US" altLang="zh-CN" b="1"/>
              <a:t>/</a:t>
            </a:r>
            <a:r>
              <a:rPr lang="zh-CN" altLang="en-US" b="1"/>
              <a:t>本地拍摄</a:t>
            </a:r>
            <a:endParaRPr lang="zh-CN" altLang="en-US" b="1"/>
          </a:p>
        </p:txBody>
      </p:sp>
      <p:pic>
        <p:nvPicPr>
          <p:cNvPr id="6" name="图片 5" descr="视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455545"/>
            <a:ext cx="396240" cy="39624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7340" y="3282315"/>
            <a:ext cx="2558415" cy="431800"/>
          </a:xfrm>
          <a:prstGeom prst="roundRect">
            <a:avLst/>
          </a:prstGeom>
          <a:solidFill>
            <a:srgbClr val="652C8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      </a:t>
            </a:r>
            <a:r>
              <a:rPr lang="zh-CN" altLang="en-US" b="1"/>
              <a:t>多算法选择</a:t>
            </a:r>
            <a:endParaRPr lang="zh-CN" altLang="en-US" b="1"/>
          </a:p>
        </p:txBody>
      </p:sp>
      <p:pic>
        <p:nvPicPr>
          <p:cNvPr id="10" name="图片 9" descr="算法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3297555"/>
            <a:ext cx="416560" cy="41656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307340" y="4144645"/>
            <a:ext cx="2558415" cy="431800"/>
          </a:xfrm>
          <a:prstGeom prst="roundRect">
            <a:avLst/>
          </a:prstGeom>
          <a:solidFill>
            <a:srgbClr val="652C8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      </a:t>
            </a:r>
            <a:r>
              <a:rPr lang="zh-CN" altLang="en-US" b="1"/>
              <a:t>分析计算</a:t>
            </a:r>
            <a:endParaRPr lang="zh-CN" altLang="en-US" b="1"/>
          </a:p>
        </p:txBody>
      </p:sp>
      <p:pic>
        <p:nvPicPr>
          <p:cNvPr id="15" name="图片 14" descr="分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4159885"/>
            <a:ext cx="415290" cy="41529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07340" y="5105400"/>
            <a:ext cx="2558415" cy="602615"/>
          </a:xfrm>
          <a:prstGeom prst="roundRect">
            <a:avLst/>
          </a:prstGeom>
          <a:solidFill>
            <a:srgbClr val="652C8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      </a:t>
            </a:r>
            <a:r>
              <a:rPr lang="zh-CN" altLang="en-US" b="1"/>
              <a:t>可视化展示</a:t>
            </a:r>
            <a:r>
              <a:rPr lang="en-US" altLang="zh-CN" b="1"/>
              <a:t>/</a:t>
            </a:r>
            <a:endParaRPr lang="en-US" altLang="zh-CN" b="1"/>
          </a:p>
          <a:p>
            <a:pPr algn="ctr"/>
            <a:r>
              <a:rPr lang="zh-CN" altLang="en-US" b="1"/>
              <a:t>分析报告</a:t>
            </a:r>
            <a:endParaRPr lang="zh-CN" altLang="en-US" b="1"/>
          </a:p>
        </p:txBody>
      </p:sp>
      <p:pic>
        <p:nvPicPr>
          <p:cNvPr id="18" name="图片 17" descr="展示平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95" y="5158105"/>
            <a:ext cx="379095" cy="37909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271520" y="1156335"/>
            <a:ext cx="3411855" cy="5460365"/>
          </a:xfrm>
          <a:prstGeom prst="roundRect">
            <a:avLst/>
          </a:prstGeom>
          <a:solidFill>
            <a:srgbClr val="ECF1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Text 3"/>
          <p:cNvSpPr/>
          <p:nvPr>
            <p:custDataLst>
              <p:tags r:id="rId6"/>
            </p:custDataLst>
          </p:nvPr>
        </p:nvSpPr>
        <p:spPr>
          <a:xfrm>
            <a:off x="4239895" y="1400175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交互数据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流转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622800" y="1904365"/>
            <a:ext cx="655955" cy="335280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开始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724275" y="2559685"/>
            <a:ext cx="898525" cy="335280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视频输入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252085" y="2559685"/>
            <a:ext cx="898525" cy="335280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视频拍摄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978910" y="3363595"/>
            <a:ext cx="1023620" cy="572135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行为识别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模块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238115" y="3336290"/>
            <a:ext cx="1023620" cy="572135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疲劳检测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模块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479800" y="3202940"/>
            <a:ext cx="2941955" cy="8864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479800" y="3454400"/>
            <a:ext cx="58610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模型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计算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3479800" y="4381500"/>
            <a:ext cx="2941955" cy="8864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9" name="肘形连接符 28"/>
          <p:cNvCxnSpPr>
            <a:stCxn id="21" idx="2"/>
            <a:endCxn id="22" idx="0"/>
          </p:cNvCxnSpPr>
          <p:nvPr/>
        </p:nvCxnSpPr>
        <p:spPr>
          <a:xfrm rot="5400000">
            <a:off x="4402455" y="2011045"/>
            <a:ext cx="320040" cy="77724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2"/>
            <a:endCxn id="23" idx="0"/>
          </p:cNvCxnSpPr>
          <p:nvPr/>
        </p:nvCxnSpPr>
        <p:spPr>
          <a:xfrm rot="5400000" flipV="1">
            <a:off x="5166360" y="2024380"/>
            <a:ext cx="320040" cy="75057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rot="5400000" flipV="1">
            <a:off x="4408488" y="2660333"/>
            <a:ext cx="307975" cy="77724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23" idx="2"/>
            <a:endCxn id="26" idx="0"/>
          </p:cNvCxnSpPr>
          <p:nvPr/>
        </p:nvCxnSpPr>
        <p:spPr>
          <a:xfrm rot="5400000">
            <a:off x="5172710" y="2673350"/>
            <a:ext cx="307975" cy="75057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3978910" y="4533265"/>
            <a:ext cx="1023620" cy="572135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驾驶行为（列表展示）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234305" y="4533265"/>
            <a:ext cx="1023620" cy="572135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疲劳程度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en-US" altLang="zh-CN" sz="1200" b="1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档评定</a:t>
            </a:r>
            <a:r>
              <a:rPr lang="en-US" altLang="zh-CN" sz="1200" b="1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分数）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3479800" y="5863590"/>
            <a:ext cx="58610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拓展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1" name="直接箭头连接符 40"/>
          <p:cNvCxnSpPr>
            <a:stCxn id="25" idx="2"/>
            <a:endCxn id="37" idx="0"/>
          </p:cNvCxnSpPr>
          <p:nvPr/>
        </p:nvCxnSpPr>
        <p:spPr>
          <a:xfrm flipH="1">
            <a:off x="5746115" y="3908425"/>
            <a:ext cx="3810" cy="62484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4" idx="2"/>
            <a:endCxn id="36" idx="0"/>
          </p:cNvCxnSpPr>
          <p:nvPr/>
        </p:nvCxnSpPr>
        <p:spPr>
          <a:xfrm>
            <a:off x="4490720" y="3935730"/>
            <a:ext cx="0" cy="597535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3479800" y="5555615"/>
            <a:ext cx="2941955" cy="8864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479800" y="4652010"/>
            <a:ext cx="58610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可视化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259580" y="5664200"/>
            <a:ext cx="1616075" cy="304800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大模型接入计算模块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304665" y="6069965"/>
            <a:ext cx="1490345" cy="304800"/>
          </a:xfrm>
          <a:prstGeom prst="round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accent1">
                    <a:lumMod val="75000"/>
                  </a:schemeClr>
                </a:solidFill>
              </a:rPr>
              <a:t>驾驶习惯分析</a:t>
            </a:r>
            <a:endParaRPr lang="zh-CN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7" name="肘形连接符 46"/>
          <p:cNvCxnSpPr>
            <a:stCxn id="36" idx="2"/>
            <a:endCxn id="43" idx="0"/>
          </p:cNvCxnSpPr>
          <p:nvPr/>
        </p:nvCxnSpPr>
        <p:spPr>
          <a:xfrm rot="5400000" flipV="1">
            <a:off x="4495800" y="5100320"/>
            <a:ext cx="450215" cy="460375"/>
          </a:xfrm>
          <a:prstGeom prst="bentConnector3">
            <a:avLst>
              <a:gd name="adj1" fmla="val 50071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37" idx="2"/>
            <a:endCxn id="43" idx="0"/>
          </p:cNvCxnSpPr>
          <p:nvPr/>
        </p:nvCxnSpPr>
        <p:spPr>
          <a:xfrm rot="5400000">
            <a:off x="5123498" y="4932998"/>
            <a:ext cx="450215" cy="795020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6837680" y="1208405"/>
            <a:ext cx="5191125" cy="5408930"/>
          </a:xfrm>
          <a:prstGeom prst="roundRect">
            <a:avLst/>
          </a:prstGeom>
          <a:solidFill>
            <a:srgbClr val="FAF0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Text 3"/>
          <p:cNvSpPr/>
          <p:nvPr>
            <p:custDataLst>
              <p:tags r:id="rId7"/>
            </p:custDataLst>
          </p:nvPr>
        </p:nvSpPr>
        <p:spPr>
          <a:xfrm>
            <a:off x="8851265" y="1400175"/>
            <a:ext cx="1475740" cy="340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2250"/>
              </a:lnSpc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核心流程</a:t>
            </a:r>
            <a:endParaRPr lang="zh-CN" alt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716520" y="180784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用户进入平台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7716520" y="241998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加载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主页面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716520" y="307848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视频输入选择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7105650" y="371411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上传视频文件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8300720" y="372808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本地拍摄视频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716520" y="440436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选择分析算法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7716520" y="505587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开始分析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716520" y="576707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展示分析结果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9497060" y="421703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查看检测详情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9497060" y="483616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大模型分析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9497060" y="5555615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下载分析结果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10760710" y="4836160"/>
            <a:ext cx="1099185" cy="4318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52C8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</a:rPr>
              <a:t>生成雷达图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4" name="直接箭头连接符 63"/>
          <p:cNvCxnSpPr>
            <a:stCxn id="51" idx="2"/>
            <a:endCxn id="52" idx="0"/>
          </p:cNvCxnSpPr>
          <p:nvPr/>
        </p:nvCxnSpPr>
        <p:spPr>
          <a:xfrm>
            <a:off x="8266430" y="2239645"/>
            <a:ext cx="0" cy="180340"/>
          </a:xfrm>
          <a:prstGeom prst="straightConnector1">
            <a:avLst/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52" idx="2"/>
            <a:endCxn id="53" idx="0"/>
          </p:cNvCxnSpPr>
          <p:nvPr/>
        </p:nvCxnSpPr>
        <p:spPr>
          <a:xfrm>
            <a:off x="8266430" y="2851785"/>
            <a:ext cx="0" cy="226695"/>
          </a:xfrm>
          <a:prstGeom prst="straightConnector1">
            <a:avLst/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肘形连接符 65"/>
          <p:cNvCxnSpPr>
            <a:stCxn id="53" idx="2"/>
            <a:endCxn id="54" idx="0"/>
          </p:cNvCxnSpPr>
          <p:nvPr/>
        </p:nvCxnSpPr>
        <p:spPr>
          <a:xfrm rot="5400000">
            <a:off x="7859395" y="3306445"/>
            <a:ext cx="203835" cy="610870"/>
          </a:xfrm>
          <a:prstGeom prst="bentConnector3">
            <a:avLst>
              <a:gd name="adj1" fmla="val 50000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stCxn id="53" idx="2"/>
            <a:endCxn id="55" idx="0"/>
          </p:cNvCxnSpPr>
          <p:nvPr/>
        </p:nvCxnSpPr>
        <p:spPr>
          <a:xfrm rot="5400000" flipV="1">
            <a:off x="8449945" y="3326765"/>
            <a:ext cx="217805" cy="584200"/>
          </a:xfrm>
          <a:prstGeom prst="bentConnector3">
            <a:avLst>
              <a:gd name="adj1" fmla="val 50000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肘形连接符 67"/>
          <p:cNvCxnSpPr>
            <a:stCxn id="54" idx="2"/>
            <a:endCxn id="56" idx="0"/>
          </p:cNvCxnSpPr>
          <p:nvPr/>
        </p:nvCxnSpPr>
        <p:spPr>
          <a:xfrm rot="5400000" flipV="1">
            <a:off x="7832090" y="3969385"/>
            <a:ext cx="258445" cy="610870"/>
          </a:xfrm>
          <a:prstGeom prst="bentConnector3">
            <a:avLst>
              <a:gd name="adj1" fmla="val 50000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55" idx="2"/>
            <a:endCxn id="56" idx="0"/>
          </p:cNvCxnSpPr>
          <p:nvPr/>
        </p:nvCxnSpPr>
        <p:spPr>
          <a:xfrm rot="5400000">
            <a:off x="8436610" y="3989705"/>
            <a:ext cx="244475" cy="584200"/>
          </a:xfrm>
          <a:prstGeom prst="bentConnector3">
            <a:avLst>
              <a:gd name="adj1" fmla="val 50000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56" idx="2"/>
            <a:endCxn id="57" idx="0"/>
          </p:cNvCxnSpPr>
          <p:nvPr/>
        </p:nvCxnSpPr>
        <p:spPr>
          <a:xfrm>
            <a:off x="8266430" y="4836160"/>
            <a:ext cx="0" cy="219710"/>
          </a:xfrm>
          <a:prstGeom prst="straightConnector1">
            <a:avLst/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57" idx="2"/>
            <a:endCxn id="59" idx="0"/>
          </p:cNvCxnSpPr>
          <p:nvPr/>
        </p:nvCxnSpPr>
        <p:spPr>
          <a:xfrm>
            <a:off x="8266430" y="5487670"/>
            <a:ext cx="0" cy="279400"/>
          </a:xfrm>
          <a:prstGeom prst="straightConnector1">
            <a:avLst/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肘形连接符 71"/>
          <p:cNvCxnSpPr>
            <a:stCxn id="59" idx="2"/>
            <a:endCxn id="60" idx="1"/>
          </p:cNvCxnSpPr>
          <p:nvPr/>
        </p:nvCxnSpPr>
        <p:spPr>
          <a:xfrm rot="5400000" flipH="1" flipV="1">
            <a:off x="7999095" y="4700270"/>
            <a:ext cx="1765935" cy="1230630"/>
          </a:xfrm>
          <a:prstGeom prst="bentConnector4">
            <a:avLst>
              <a:gd name="adj1" fmla="val -13466"/>
              <a:gd name="adj2" fmla="val 72317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59" idx="2"/>
            <a:endCxn id="61" idx="1"/>
          </p:cNvCxnSpPr>
          <p:nvPr/>
        </p:nvCxnSpPr>
        <p:spPr>
          <a:xfrm rot="5400000" flipH="1" flipV="1">
            <a:off x="8308340" y="5010150"/>
            <a:ext cx="1146810" cy="1230630"/>
          </a:xfrm>
          <a:prstGeom prst="bentConnector4">
            <a:avLst>
              <a:gd name="adj1" fmla="val -20764"/>
              <a:gd name="adj2" fmla="val 72343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肘形连接符 73"/>
          <p:cNvCxnSpPr>
            <a:stCxn id="59" idx="2"/>
            <a:endCxn id="62" idx="1"/>
          </p:cNvCxnSpPr>
          <p:nvPr/>
        </p:nvCxnSpPr>
        <p:spPr>
          <a:xfrm rot="5400000" flipH="1" flipV="1">
            <a:off x="8668385" y="5369560"/>
            <a:ext cx="427355" cy="1230630"/>
          </a:xfrm>
          <a:prstGeom prst="bentConnector4">
            <a:avLst>
              <a:gd name="adj1" fmla="val -55646"/>
              <a:gd name="adj2" fmla="val 72317"/>
            </a:avLst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61" idx="3"/>
            <a:endCxn id="63" idx="1"/>
          </p:cNvCxnSpPr>
          <p:nvPr/>
        </p:nvCxnSpPr>
        <p:spPr>
          <a:xfrm>
            <a:off x="10596245" y="5052060"/>
            <a:ext cx="164465" cy="0"/>
          </a:xfrm>
          <a:prstGeom prst="straightConnector1">
            <a:avLst/>
          </a:prstGeom>
          <a:solidFill>
            <a:schemeClr val="accent2">
              <a:lumMod val="75000"/>
              <a:alpha val="9000"/>
            </a:schemeClr>
          </a:solidFill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4419600"/>
            <a:ext cx="5840506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技术路线与</a:t>
            </a: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4013200"/>
            <a:ext cx="4972051" cy="3810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30000"/>
              </a:lnSpc>
            </a:pPr>
            <a:r>
              <a:rPr lang="en-US" sz="3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0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技术路线与</a:t>
            </a:r>
            <a:r>
              <a:rPr lang="zh-CN" altLang="en-US"/>
              <a:t>架构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95400" y="5035550"/>
            <a:ext cx="10017760" cy="1688465"/>
          </a:xfrm>
          <a:prstGeom prst="rect">
            <a:avLst/>
          </a:prstGeom>
          <a:noFill/>
          <a:ln w="19050" cmpd="sng">
            <a:solidFill>
              <a:srgbClr val="652C8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136525" y="5699125"/>
            <a:ext cx="115887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数据层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09065" y="5701030"/>
            <a:ext cx="4826000" cy="95948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数据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630" y="5964555"/>
            <a:ext cx="467995" cy="46799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1952625" y="581152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652C80"/>
                </a:solidFill>
              </a:rPr>
              <a:t>公开</a:t>
            </a:r>
            <a:r>
              <a:rPr lang="zh-CN" altLang="en-US" sz="1600" b="1">
                <a:solidFill>
                  <a:srgbClr val="652C80"/>
                </a:solidFill>
              </a:rPr>
              <a:t>数据集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007235" y="6146800"/>
            <a:ext cx="4315460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Yawn-Eye Dataset,Driver Drowsiness Dataset,Driver Telematics Analysis,Ford Challenge - Driver Monitoring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 Farm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6365240" y="5700395"/>
            <a:ext cx="2484120" cy="91122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6938010" y="5811520"/>
            <a:ext cx="201168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652C80"/>
                </a:solidFill>
              </a:rPr>
              <a:t>自采本地场景</a:t>
            </a:r>
            <a:r>
              <a:rPr lang="zh-CN" altLang="en-US" sz="1600" b="1">
                <a:solidFill>
                  <a:srgbClr val="652C80"/>
                </a:solidFill>
              </a:rPr>
              <a:t>数据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7067550" y="6097270"/>
            <a:ext cx="1292860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视频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摄像头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图片 14" descr="本地上传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31610" y="5964555"/>
            <a:ext cx="406400" cy="406400"/>
          </a:xfrm>
          <a:prstGeom prst="rect">
            <a:avLst/>
          </a:prstGeom>
        </p:spPr>
      </p:pic>
      <p:sp>
        <p:nvSpPr>
          <p:cNvPr id="20" name="圆角矩形 19"/>
          <p:cNvSpPr/>
          <p:nvPr>
            <p:custDataLst>
              <p:tags r:id="rId7"/>
            </p:custDataLst>
          </p:nvPr>
        </p:nvSpPr>
        <p:spPr>
          <a:xfrm>
            <a:off x="8979535" y="5700395"/>
            <a:ext cx="2045335" cy="91122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9764395" y="5811520"/>
            <a:ext cx="201168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652C80"/>
                </a:solidFill>
              </a:rPr>
              <a:t>视频流</a:t>
            </a:r>
            <a:r>
              <a:rPr lang="zh-CN" altLang="en-US" sz="1600" b="1">
                <a:solidFill>
                  <a:srgbClr val="652C80"/>
                </a:solidFill>
              </a:rPr>
              <a:t>输入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22" name="圆角矩形 21"/>
          <p:cNvSpPr/>
          <p:nvPr>
            <p:custDataLst>
              <p:tags r:id="rId9"/>
            </p:custDataLst>
          </p:nvPr>
        </p:nvSpPr>
        <p:spPr>
          <a:xfrm>
            <a:off x="9813290" y="6146800"/>
            <a:ext cx="1292860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摄像头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9" name="图片 28" descr="视频 (1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2895" y="5964555"/>
            <a:ext cx="493395" cy="465455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1295400" y="3699510"/>
            <a:ext cx="10017760" cy="1177290"/>
          </a:xfrm>
          <a:prstGeom prst="rect">
            <a:avLst/>
          </a:prstGeom>
          <a:noFill/>
          <a:ln w="19050" cmpd="sng">
            <a:solidFill>
              <a:srgbClr val="0070C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136525" y="4106545"/>
            <a:ext cx="115887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感知层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409065" y="3792220"/>
            <a:ext cx="4826000" cy="939165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2007235" y="379222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13227A"/>
                </a:solidFill>
              </a:rPr>
              <a:t>行为识别</a:t>
            </a:r>
            <a:endParaRPr lang="zh-CN" altLang="en-US" sz="1600" b="1">
              <a:solidFill>
                <a:srgbClr val="13227A"/>
              </a:solidFill>
            </a:endParaRPr>
          </a:p>
        </p:txBody>
      </p:sp>
      <p:pic>
        <p:nvPicPr>
          <p:cNvPr id="34" name="图片 33" descr="行为识别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9545" y="4044315"/>
            <a:ext cx="513080" cy="502920"/>
          </a:xfrm>
          <a:prstGeom prst="rect">
            <a:avLst/>
          </a:prstGeom>
        </p:spPr>
      </p:pic>
      <p:sp>
        <p:nvSpPr>
          <p:cNvPr id="35" name="圆角矩形 34"/>
          <p:cNvSpPr/>
          <p:nvPr/>
        </p:nvSpPr>
        <p:spPr>
          <a:xfrm>
            <a:off x="2007235" y="4154170"/>
            <a:ext cx="4315460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YOLOv8n unified.pt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YOLOv8n-pose 17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点辅助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低光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CLAHE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预处理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377305" y="3800475"/>
            <a:ext cx="4826000" cy="930910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7034530" y="387223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13227A"/>
                </a:solidFill>
              </a:rPr>
              <a:t>疲劳</a:t>
            </a:r>
            <a:r>
              <a:rPr lang="zh-CN" altLang="en-US" sz="1600" b="1">
                <a:solidFill>
                  <a:srgbClr val="13227A"/>
                </a:solidFill>
              </a:rPr>
              <a:t>检测</a:t>
            </a:r>
            <a:endParaRPr lang="zh-CN" altLang="en-US" sz="1600" b="1">
              <a:solidFill>
                <a:srgbClr val="13227A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938010" y="4106545"/>
            <a:ext cx="2354580" cy="61722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EAR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眼部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纵横比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MAR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嘴部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纵横比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" name="图片 39" descr="疲劳检测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8580" y="4084320"/>
            <a:ext cx="520700" cy="520700"/>
          </a:xfrm>
          <a:prstGeom prst="rect">
            <a:avLst/>
          </a:prstGeom>
        </p:spPr>
      </p:pic>
      <p:sp>
        <p:nvSpPr>
          <p:cNvPr id="42" name="右箭头 41"/>
          <p:cNvSpPr/>
          <p:nvPr/>
        </p:nvSpPr>
        <p:spPr>
          <a:xfrm rot="16200000">
            <a:off x="5930900" y="4389755"/>
            <a:ext cx="74676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B08FC1">
                  <a:alpha val="59000"/>
                </a:srgbClr>
              </a:gs>
              <a:gs pos="53000">
                <a:srgbClr val="6A2686">
                  <a:alpha val="43000"/>
                </a:srgbClr>
              </a:gs>
              <a:gs pos="83000">
                <a:srgbClr val="6A2686">
                  <a:alpha val="48000"/>
                </a:srgbClr>
              </a:gs>
              <a:gs pos="100000">
                <a:srgbClr val="6A268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4244975" y="5121275"/>
            <a:ext cx="1394460" cy="53149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rgbClr val="652C80"/>
                </a:solidFill>
              </a:rPr>
              <a:t>数据分类</a:t>
            </a:r>
            <a:endParaRPr lang="zh-CN" altLang="en-US" sz="1200">
              <a:solidFill>
                <a:srgbClr val="652C80"/>
              </a:solidFill>
            </a:endParaRPr>
          </a:p>
          <a:p>
            <a:pPr algn="ctr"/>
            <a:r>
              <a:rPr lang="zh-CN" altLang="en-US" sz="1200">
                <a:solidFill>
                  <a:srgbClr val="652C80"/>
                </a:solidFill>
              </a:rPr>
              <a:t>统一标注</a:t>
            </a:r>
            <a:endParaRPr lang="zh-CN" altLang="en-US" sz="1200">
              <a:solidFill>
                <a:srgbClr val="652C80"/>
              </a:solidFill>
            </a:endParaRPr>
          </a:p>
          <a:p>
            <a:pPr algn="ctr"/>
            <a:r>
              <a:rPr lang="zh-CN" altLang="en-US" sz="1200">
                <a:solidFill>
                  <a:srgbClr val="652C80"/>
                </a:solidFill>
              </a:rPr>
              <a:t>格式转换</a:t>
            </a:r>
            <a:endParaRPr lang="zh-CN" altLang="en-US" sz="1200">
              <a:solidFill>
                <a:srgbClr val="652C80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7211695" y="5169535"/>
            <a:ext cx="2690495" cy="53149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200">
                <a:solidFill>
                  <a:srgbClr val="652C80"/>
                </a:solidFill>
              </a:rPr>
              <a:t>人脸检测/</a:t>
            </a:r>
            <a:r>
              <a:rPr lang="en-US" altLang="zh-CN" sz="1200">
                <a:solidFill>
                  <a:srgbClr val="652C80"/>
                </a:solidFill>
              </a:rPr>
              <a:t>ROI</a:t>
            </a:r>
            <a:r>
              <a:rPr lang="zh-CN" altLang="en-US" sz="1200">
                <a:solidFill>
                  <a:srgbClr val="652C80"/>
                </a:solidFill>
              </a:rPr>
              <a:t>定位</a:t>
            </a:r>
            <a:endParaRPr lang="zh-CN" altLang="en-US" sz="1200">
              <a:solidFill>
                <a:srgbClr val="652C80"/>
              </a:solidFill>
            </a:endParaRPr>
          </a:p>
          <a:p>
            <a:pPr algn="l"/>
            <a:r>
              <a:rPr lang="en-US" altLang="zh-CN" sz="1200">
                <a:solidFill>
                  <a:srgbClr val="652C80"/>
                </a:solidFill>
              </a:rPr>
              <a:t>Face Landmark </a:t>
            </a:r>
            <a:r>
              <a:rPr lang="zh-CN" altLang="en-US" sz="1200">
                <a:solidFill>
                  <a:srgbClr val="652C80"/>
                </a:solidFill>
              </a:rPr>
              <a:t>提取</a:t>
            </a:r>
            <a:endParaRPr lang="zh-CN" altLang="en-US" sz="1200">
              <a:solidFill>
                <a:srgbClr val="652C80"/>
              </a:solidFill>
            </a:endParaRPr>
          </a:p>
          <a:p>
            <a:pPr algn="l"/>
            <a:r>
              <a:rPr lang="zh-CN" altLang="en-US" sz="1200">
                <a:solidFill>
                  <a:srgbClr val="652C80"/>
                </a:solidFill>
              </a:rPr>
              <a:t>眼部、嘴部、头部</a:t>
            </a:r>
            <a:r>
              <a:rPr lang="zh-CN" altLang="en-US" sz="1200">
                <a:solidFill>
                  <a:srgbClr val="652C80"/>
                </a:solidFill>
                <a:sym typeface="+mn-ea"/>
              </a:rPr>
              <a:t>区域对齐</a:t>
            </a:r>
            <a:endParaRPr lang="zh-CN" altLang="en-US" sz="1200">
              <a:solidFill>
                <a:srgbClr val="652C80"/>
              </a:solidFill>
            </a:endParaRPr>
          </a:p>
          <a:p>
            <a:pPr algn="l"/>
            <a:endParaRPr lang="zh-CN" altLang="en-US" sz="1200">
              <a:solidFill>
                <a:srgbClr val="652C8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871585" y="4207510"/>
            <a:ext cx="2261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Yaw / Pitch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偏航角 / 俯仰角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关键点几何特征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295400" y="2378710"/>
            <a:ext cx="10017760" cy="1177290"/>
          </a:xfrm>
          <a:prstGeom prst="rect">
            <a:avLst/>
          </a:prstGeom>
          <a:noFill/>
          <a:ln w="19050" cmpd="sng">
            <a:solidFill>
              <a:schemeClr val="accent2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295400" y="1057910"/>
            <a:ext cx="10017760" cy="1177290"/>
          </a:xfrm>
          <a:prstGeom prst="rect">
            <a:avLst/>
          </a:prstGeom>
          <a:noFill/>
          <a:ln w="1905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7030A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圆角矩形 48"/>
          <p:cNvSpPr/>
          <p:nvPr/>
        </p:nvSpPr>
        <p:spPr>
          <a:xfrm>
            <a:off x="136525" y="2799715"/>
            <a:ext cx="115887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序层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1409700" y="2489835"/>
            <a:ext cx="4826000" cy="93916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6363335" y="2488565"/>
            <a:ext cx="4826000" cy="93916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 descr="23规则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0505" y="2713990"/>
            <a:ext cx="506730" cy="506730"/>
          </a:xfrm>
          <a:prstGeom prst="rect">
            <a:avLst/>
          </a:prstGeom>
        </p:spPr>
      </p:pic>
      <p:sp>
        <p:nvSpPr>
          <p:cNvPr id="53" name="圆角矩形 52"/>
          <p:cNvSpPr/>
          <p:nvPr/>
        </p:nvSpPr>
        <p:spPr>
          <a:xfrm>
            <a:off x="2007235" y="2606675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时</a:t>
            </a:r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序规则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7034530" y="254889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时</a:t>
            </a:r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序建模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5" name="图片 54" descr="数据建模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9385" y="2740025"/>
            <a:ext cx="428625" cy="428625"/>
          </a:xfrm>
          <a:prstGeom prst="rect">
            <a:avLst/>
          </a:prstGeom>
        </p:spPr>
      </p:pic>
      <p:sp>
        <p:nvSpPr>
          <p:cNvPr id="56" name="圆角矩形 55"/>
          <p:cNvSpPr/>
          <p:nvPr/>
        </p:nvSpPr>
        <p:spPr>
          <a:xfrm>
            <a:off x="2027555" y="2888615"/>
            <a:ext cx="2216785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calling ↔ phone_use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互斥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方向盘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ROI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判定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264660" y="2941955"/>
            <a:ext cx="1911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5 帧滑窗去抖 (3/3)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duration_s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统计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067550" y="2884170"/>
            <a:ext cx="2216785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Blink、 Long Eye Closure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Yawn、Nod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9137015" y="2888615"/>
            <a:ext cx="2216785" cy="513715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窗口统计与 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PERCLOS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时序事件计数与持续时间分析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36525" y="1478915"/>
            <a:ext cx="115887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决策层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右箭头 60"/>
          <p:cNvSpPr/>
          <p:nvPr/>
        </p:nvSpPr>
        <p:spPr>
          <a:xfrm rot="16200000">
            <a:off x="3599815" y="2832735"/>
            <a:ext cx="44450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044E95">
                  <a:alpha val="28000"/>
                </a:srgbClr>
              </a:gs>
              <a:gs pos="53000">
                <a:srgbClr val="044E95">
                  <a:alpha val="44000"/>
                </a:srgbClr>
              </a:gs>
              <a:gs pos="83000">
                <a:srgbClr val="044E95">
                  <a:alpha val="66000"/>
                </a:srgbClr>
              </a:gs>
              <a:gs pos="100000">
                <a:srgbClr val="044E9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/>
        </p:nvSpPr>
        <p:spPr>
          <a:xfrm rot="16200000">
            <a:off x="8645525" y="2832735"/>
            <a:ext cx="44450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044E95">
                  <a:alpha val="28000"/>
                </a:srgbClr>
              </a:gs>
              <a:gs pos="53000">
                <a:srgbClr val="044E95">
                  <a:alpha val="44000"/>
                </a:srgbClr>
              </a:gs>
              <a:gs pos="83000">
                <a:srgbClr val="044E95">
                  <a:alpha val="66000"/>
                </a:srgbClr>
              </a:gs>
              <a:gs pos="100000">
                <a:srgbClr val="044E9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1409700" y="1166495"/>
            <a:ext cx="4826000" cy="95948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6377305" y="1166495"/>
            <a:ext cx="4826000" cy="95948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 descr="决策服务分析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2730" y="1478915"/>
            <a:ext cx="429895" cy="429895"/>
          </a:xfrm>
          <a:prstGeom prst="rect">
            <a:avLst/>
          </a:prstGeom>
        </p:spPr>
      </p:pic>
      <p:sp>
        <p:nvSpPr>
          <p:cNvPr id="66" name="圆角矩形 65"/>
          <p:cNvSpPr/>
          <p:nvPr/>
        </p:nvSpPr>
        <p:spPr>
          <a:xfrm>
            <a:off x="2007235" y="122428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652C80"/>
                </a:solidFill>
              </a:rPr>
              <a:t>行为</a:t>
            </a:r>
            <a:r>
              <a:rPr lang="zh-CN" altLang="en-US" sz="1600" b="1">
                <a:solidFill>
                  <a:srgbClr val="652C80"/>
                </a:solidFill>
              </a:rPr>
              <a:t>判定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116455" y="1559560"/>
            <a:ext cx="1657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加权互补风险公式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5 档风险等级映射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244975" y="1559560"/>
            <a:ext cx="1701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高危 &gt;2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s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升级告警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JSON 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日志输出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pic>
        <p:nvPicPr>
          <p:cNvPr id="69" name="图片 68" descr="决策树  决策树实例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1610" y="1513840"/>
            <a:ext cx="420370" cy="394970"/>
          </a:xfrm>
          <a:prstGeom prst="rect">
            <a:avLst/>
          </a:prstGeom>
        </p:spPr>
      </p:pic>
      <p:sp>
        <p:nvSpPr>
          <p:cNvPr id="70" name="圆角矩形 69"/>
          <p:cNvSpPr/>
          <p:nvPr/>
        </p:nvSpPr>
        <p:spPr>
          <a:xfrm>
            <a:off x="7122795" y="1224280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652C80"/>
                </a:solidFill>
              </a:rPr>
              <a:t>疲劳判定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122795" y="1559560"/>
            <a:ext cx="1657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多征兆融合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Fatigue Score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192895" y="1559560"/>
            <a:ext cx="1831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Fatigue Level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预警触发与日志输出</a:t>
            </a: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73" name="右箭头 72"/>
          <p:cNvSpPr/>
          <p:nvPr/>
        </p:nvSpPr>
        <p:spPr>
          <a:xfrm rot="16200000">
            <a:off x="3599815" y="1529715"/>
            <a:ext cx="44450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chemeClr val="accent2">
                  <a:lumMod val="75000"/>
                  <a:alpha val="29000"/>
                </a:schemeClr>
              </a:gs>
              <a:gs pos="50000">
                <a:schemeClr val="accent2">
                  <a:lumMod val="75000"/>
                  <a:alpha val="50000"/>
                </a:schemeClr>
              </a:gs>
              <a:gs pos="83000">
                <a:schemeClr val="accent2">
                  <a:lumMod val="75000"/>
                  <a:alpha val="69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/>
        </p:nvSpPr>
        <p:spPr>
          <a:xfrm rot="16200000">
            <a:off x="8645525" y="1565910"/>
            <a:ext cx="44450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chemeClr val="accent2">
                  <a:lumMod val="75000"/>
                  <a:alpha val="29000"/>
                </a:schemeClr>
              </a:gs>
              <a:gs pos="50000">
                <a:schemeClr val="accent2">
                  <a:lumMod val="75000"/>
                  <a:alpha val="50000"/>
                </a:schemeClr>
              </a:gs>
              <a:gs pos="83000">
                <a:schemeClr val="accent2">
                  <a:lumMod val="75000"/>
                  <a:alpha val="69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行为识别算法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775" y="1690370"/>
            <a:ext cx="3342640" cy="4003675"/>
          </a:xfrm>
          <a:prstGeom prst="rect">
            <a:avLst/>
          </a:prstGeom>
          <a:noFill/>
          <a:ln w="19050" cmpd="sng">
            <a:solidFill>
              <a:schemeClr val="accent2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grpSp>
        <p:nvGrpSpPr>
          <p:cNvPr id="18" name="组合 17"/>
          <p:cNvGrpSpPr/>
          <p:nvPr/>
        </p:nvGrpSpPr>
        <p:grpSpPr>
          <a:xfrm>
            <a:off x="86995" y="1367155"/>
            <a:ext cx="1662430" cy="618490"/>
            <a:chOff x="2439" y="2331"/>
            <a:chExt cx="2618" cy="974"/>
          </a:xfrm>
          <a:solidFill>
            <a:schemeClr val="accent2">
              <a:lumMod val="75000"/>
            </a:schemeClr>
          </a:solidFill>
        </p:grpSpPr>
        <p:sp>
          <p:nvSpPr>
            <p:cNvPr id="19" name="圆角矩形 18"/>
            <p:cNvSpPr/>
            <p:nvPr/>
          </p:nvSpPr>
          <p:spPr>
            <a:xfrm>
              <a:off x="2439" y="2331"/>
              <a:ext cx="2619" cy="97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200" b="1"/>
                <a:t>        </a:t>
              </a:r>
              <a:r>
                <a:rPr lang="zh-CN" altLang="en-US" sz="2200" b="1"/>
                <a:t>输入</a:t>
              </a:r>
              <a:endParaRPr lang="zh-CN" altLang="en-US" sz="2200" b="1"/>
            </a:p>
          </p:txBody>
        </p:sp>
        <p:pic>
          <p:nvPicPr>
            <p:cNvPr id="23" name="图片 22" descr="输入 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36" y="2508"/>
              <a:ext cx="619" cy="619"/>
            </a:xfrm>
            <a:prstGeom prst="rect">
              <a:avLst/>
            </a:prstGeom>
            <a:grpFill/>
          </p:spPr>
        </p:pic>
      </p:grpSp>
      <p:pic>
        <p:nvPicPr>
          <p:cNvPr id="25" name="图片 24" descr="视频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" y="2571115"/>
            <a:ext cx="499745" cy="499745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560705" y="2653030"/>
            <a:ext cx="65976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视频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560705" y="4246245"/>
            <a:ext cx="65976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图片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5" name="图片 44" descr="图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210050"/>
            <a:ext cx="404495" cy="404495"/>
          </a:xfrm>
          <a:prstGeom prst="rect">
            <a:avLst/>
          </a:prstGeom>
        </p:spPr>
      </p:pic>
      <p:sp>
        <p:nvSpPr>
          <p:cNvPr id="74" name="圆角矩形 73"/>
          <p:cNvSpPr/>
          <p:nvPr/>
        </p:nvSpPr>
        <p:spPr>
          <a:xfrm>
            <a:off x="1616075" y="2108835"/>
            <a:ext cx="1637030" cy="2900680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713865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自定义数据集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572260" y="2829560"/>
            <a:ext cx="178308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驾驶位无人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摄像头被遮挡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驾驶姿势异常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驾驶中使用手机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驾驶中打电话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未系安全带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双手离开方向盘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驾驶中吸烟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79" name="肘形连接符 78"/>
          <p:cNvCxnSpPr>
            <a:stCxn id="26" idx="3"/>
            <a:endCxn id="77" idx="1"/>
          </p:cNvCxnSpPr>
          <p:nvPr/>
        </p:nvCxnSpPr>
        <p:spPr>
          <a:xfrm>
            <a:off x="1220470" y="2820670"/>
            <a:ext cx="351790" cy="916305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1017270" y="3079115"/>
            <a:ext cx="3435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抽帧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81" name="肘形连接符 80"/>
          <p:cNvCxnSpPr>
            <a:stCxn id="41" idx="3"/>
            <a:endCxn id="77" idx="1"/>
          </p:cNvCxnSpPr>
          <p:nvPr/>
        </p:nvCxnSpPr>
        <p:spPr>
          <a:xfrm flipV="1">
            <a:off x="1220470" y="3736975"/>
            <a:ext cx="351790" cy="67691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1017270" y="3736975"/>
            <a:ext cx="3060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标注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989070" y="1690370"/>
            <a:ext cx="3342640" cy="4003675"/>
          </a:xfrm>
          <a:prstGeom prst="rect">
            <a:avLst/>
          </a:prstGeom>
          <a:noFill/>
          <a:ln w="1905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91" name="圆角矩形 90"/>
          <p:cNvSpPr/>
          <p:nvPr/>
        </p:nvSpPr>
        <p:spPr>
          <a:xfrm>
            <a:off x="3980180" y="1367155"/>
            <a:ext cx="1663065" cy="61849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200" b="1"/>
              <a:t>        </a:t>
            </a:r>
            <a:r>
              <a:rPr lang="zh-CN" altLang="en-US" sz="2200" b="1"/>
              <a:t>算法</a:t>
            </a:r>
            <a:endParaRPr lang="zh-CN" altLang="en-US" sz="2200" b="1"/>
          </a:p>
        </p:txBody>
      </p:sp>
      <p:pic>
        <p:nvPicPr>
          <p:cNvPr id="93" name="图片 92" descr="算法包管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080" y="1479550"/>
            <a:ext cx="448945" cy="422275"/>
          </a:xfrm>
          <a:prstGeom prst="rect">
            <a:avLst/>
          </a:prstGeom>
        </p:spPr>
      </p:pic>
      <p:sp>
        <p:nvSpPr>
          <p:cNvPr id="96" name="圆角矩形 95"/>
          <p:cNvSpPr/>
          <p:nvPr/>
        </p:nvSpPr>
        <p:spPr>
          <a:xfrm>
            <a:off x="4282440" y="2073910"/>
            <a:ext cx="2861310" cy="3580000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/>
          </a:p>
        </p:txBody>
      </p:sp>
      <p:sp>
        <p:nvSpPr>
          <p:cNvPr id="300" name="文本框 300"/>
          <p:cNvSpPr txBox="1"/>
          <p:nvPr/>
        </p:nvSpPr>
        <p:spPr>
          <a:xfrm>
            <a:off x="4342440" y="2095000"/>
            <a:ext cx="2741310" cy="28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zh-CN" altLang="en-US" sz="1500" b="1">
                <a:solidFill>
                  <a:srgbClr val="652C80"/>
                </a:solidFill>
              </a:rPr>
              <a:t>基线 </a:t>
            </a:r>
            <a:r>
              <a:rPr lang="en-US" altLang="en-US" sz="1500" b="1">
                <a:solidFill>
                  <a:srgbClr val="652C80"/>
                </a:solidFill>
              </a:rPr>
              <a:t>YOLOv8</a:t>
            </a:r>
            <a:r>
              <a:rPr lang="zh-CN" altLang="en-US" sz="1500" b="1">
                <a:solidFill>
                  <a:srgbClr val="652C80"/>
                </a:solidFill>
              </a:rPr>
              <a:t>  +  改进优化</a:t>
            </a:r>
            <a:endParaRPr lang="zh-CN" altLang="en-US" sz="1500" b="1">
              <a:solidFill>
                <a:srgbClr val="652C80"/>
              </a:solidFill>
            </a:endParaRPr>
          </a:p>
        </p:txBody>
      </p:sp>
      <p:sp>
        <p:nvSpPr>
          <p:cNvPr id="301" name="矩形 301"/>
          <p:cNvSpPr/>
          <p:nvPr/>
        </p:nvSpPr>
        <p:spPr>
          <a:xfrm>
            <a:off x="4482440" y="2400000"/>
            <a:ext cx="2461310" cy="6000"/>
          </a:xfrm>
          <a:prstGeom prst="rect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2" name="矩形 302"/>
          <p:cNvSpPr/>
          <p:nvPr/>
        </p:nvSpPr>
        <p:spPr>
          <a:xfrm>
            <a:off x="4569325" y="2520000"/>
            <a:ext cx="358800" cy="50000"/>
          </a:xfrm>
          <a:prstGeom prst="rect">
            <a:avLst/>
          </a:prstGeom>
          <a:solidFill>
            <a:srgbClr val="C9A9DC"/>
          </a:solidFill>
          <a:ln w="100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3" name="矩形 303"/>
          <p:cNvSpPr/>
          <p:nvPr/>
        </p:nvSpPr>
        <p:spPr>
          <a:xfrm>
            <a:off x="4594625" y="2597500"/>
            <a:ext cx="338800" cy="50000"/>
          </a:xfrm>
          <a:prstGeom prst="rect">
            <a:avLst/>
          </a:prstGeom>
          <a:solidFill>
            <a:srgbClr val="9B6BB0"/>
          </a:solidFill>
          <a:ln w="100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4" name="矩形 304"/>
          <p:cNvSpPr/>
          <p:nvPr/>
        </p:nvSpPr>
        <p:spPr>
          <a:xfrm>
            <a:off x="4619925" y="2675000"/>
            <a:ext cx="318800" cy="50000"/>
          </a:xfrm>
          <a:prstGeom prst="rect">
            <a:avLst/>
          </a:prstGeom>
          <a:solidFill>
            <a:srgbClr val="9B6BB0"/>
          </a:solidFill>
          <a:ln w="100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5" name="矩形 305"/>
          <p:cNvSpPr/>
          <p:nvPr/>
        </p:nvSpPr>
        <p:spPr>
          <a:xfrm>
            <a:off x="4645225" y="2752500"/>
            <a:ext cx="298800" cy="50000"/>
          </a:xfrm>
          <a:prstGeom prst="rect">
            <a:avLst/>
          </a:prstGeom>
          <a:solidFill>
            <a:srgbClr val="652C80"/>
          </a:solidFill>
          <a:ln w="100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6" name="矩形 306"/>
          <p:cNvSpPr/>
          <p:nvPr/>
        </p:nvSpPr>
        <p:spPr>
          <a:xfrm>
            <a:off x="4670525" y="2830000"/>
            <a:ext cx="278800" cy="50000"/>
          </a:xfrm>
          <a:prstGeom prst="rect">
            <a:avLst/>
          </a:prstGeom>
          <a:solidFill>
            <a:srgbClr val="652C80"/>
          </a:solidFill>
          <a:ln w="100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7" name="圆角矩形 307"/>
          <p:cNvSpPr/>
          <p:nvPr/>
        </p:nvSpPr>
        <p:spPr>
          <a:xfrm>
            <a:off x="5494595" y="2520000"/>
            <a:ext cx="437000" cy="50000"/>
          </a:xfrm>
          <a:prstGeom prst="roundRect">
            <a:avLst/>
          </a:prstGeom>
          <a:solidFill>
            <a:srgbClr val="C9A9DC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8" name="圆角矩形 308"/>
          <p:cNvSpPr/>
          <p:nvPr/>
        </p:nvSpPr>
        <p:spPr>
          <a:xfrm>
            <a:off x="5563595" y="2675000"/>
            <a:ext cx="299000" cy="50000"/>
          </a:xfrm>
          <a:prstGeom prst="roundRect">
            <a:avLst/>
          </a:prstGeom>
          <a:solidFill>
            <a:srgbClr val="C9A9DC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09" name="圆角矩形 309"/>
          <p:cNvSpPr/>
          <p:nvPr/>
        </p:nvSpPr>
        <p:spPr>
          <a:xfrm>
            <a:off x="5632595" y="2830000"/>
            <a:ext cx="161000" cy="50000"/>
          </a:xfrm>
          <a:prstGeom prst="roundRect">
            <a:avLst/>
          </a:prstGeom>
          <a:solidFill>
            <a:srgbClr val="C9A9DC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10" name="下箭头 310"/>
          <p:cNvSpPr/>
          <p:nvPr/>
        </p:nvSpPr>
        <p:spPr>
          <a:xfrm>
            <a:off x="5440950" y="2540000"/>
            <a:ext cx="40000" cy="320000"/>
          </a:xfrm>
          <a:prstGeom prst="downArrow">
            <a:avLst/>
          </a:prstGeom>
          <a:solidFill>
            <a:srgbClr val="9B6BB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11" name="椭圆 311"/>
          <p:cNvSpPr/>
          <p:nvPr/>
        </p:nvSpPr>
        <p:spPr>
          <a:xfrm>
            <a:off x="6456865" y="2660000"/>
            <a:ext cx="80000" cy="80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12" name="直线 312"/>
          <p:cNvCxnSpPr/>
          <p:nvPr/>
        </p:nvCxnSpPr>
        <p:spPr>
          <a:xfrm flipV="1">
            <a:off x="6536865" y="2555000"/>
            <a:ext cx="120000" cy="145000"/>
          </a:xfrm>
          <a:prstGeom prst="line">
            <a:avLst/>
          </a:prstGeom>
          <a:ln w="12700">
            <a:solidFill>
              <a:srgbClr val="652C80"/>
            </a:solidFill>
          </a:ln>
        </p:spPr>
      </p:cxnSp>
      <p:sp>
        <p:nvSpPr>
          <p:cNvPr id="313" name="圆角矩形 313"/>
          <p:cNvSpPr/>
          <p:nvPr/>
        </p:nvSpPr>
        <p:spPr>
          <a:xfrm>
            <a:off x="6656865" y="2520000"/>
            <a:ext cx="200000" cy="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14" name="文本框 314"/>
          <p:cNvSpPr txBox="1"/>
          <p:nvPr/>
        </p:nvSpPr>
        <p:spPr>
          <a:xfrm>
            <a:off x="6617970" y="2513330"/>
            <a:ext cx="277495" cy="84455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400" b="1">
                <a:solidFill>
                  <a:srgbClr val="652C80"/>
                </a:solidFill>
              </a:rPr>
              <a:t>cls</a:t>
            </a:r>
            <a:endParaRPr lang="en-US" altLang="en-US" sz="400" b="1">
              <a:solidFill>
                <a:srgbClr val="652C80"/>
              </a:solidFill>
            </a:endParaRPr>
          </a:p>
        </p:txBody>
      </p:sp>
      <p:cxnSp>
        <p:nvCxnSpPr>
          <p:cNvPr id="315" name="直线 315"/>
          <p:cNvCxnSpPr/>
          <p:nvPr/>
        </p:nvCxnSpPr>
        <p:spPr>
          <a:xfrm>
            <a:off x="6536865" y="2700000"/>
            <a:ext cx="120000" cy="0"/>
          </a:xfrm>
          <a:prstGeom prst="line">
            <a:avLst/>
          </a:prstGeom>
          <a:ln w="12700">
            <a:solidFill>
              <a:srgbClr val="652C80"/>
            </a:solidFill>
          </a:ln>
        </p:spPr>
      </p:cxnSp>
      <p:sp>
        <p:nvSpPr>
          <p:cNvPr id="316" name="圆角矩形 316"/>
          <p:cNvSpPr/>
          <p:nvPr/>
        </p:nvSpPr>
        <p:spPr>
          <a:xfrm>
            <a:off x="6656865" y="2665000"/>
            <a:ext cx="200000" cy="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18" name="直线 318"/>
          <p:cNvCxnSpPr/>
          <p:nvPr/>
        </p:nvCxnSpPr>
        <p:spPr>
          <a:xfrm>
            <a:off x="6536865" y="2700000"/>
            <a:ext cx="120000" cy="145000"/>
          </a:xfrm>
          <a:prstGeom prst="line">
            <a:avLst/>
          </a:prstGeom>
          <a:ln w="12700">
            <a:solidFill>
              <a:srgbClr val="652C80"/>
            </a:solidFill>
          </a:ln>
        </p:spPr>
      </p:cxnSp>
      <p:sp>
        <p:nvSpPr>
          <p:cNvPr id="319" name="圆角矩形 319"/>
          <p:cNvSpPr/>
          <p:nvPr/>
        </p:nvSpPr>
        <p:spPr>
          <a:xfrm>
            <a:off x="6656865" y="2810000"/>
            <a:ext cx="200000" cy="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21" name="文本框 321"/>
          <p:cNvSpPr txBox="1"/>
          <p:nvPr/>
        </p:nvSpPr>
        <p:spPr>
          <a:xfrm>
            <a:off x="4342440" y="291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特征提取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Backbone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22" name="文本框 322"/>
          <p:cNvSpPr txBox="1"/>
          <p:nvPr/>
        </p:nvSpPr>
        <p:spPr>
          <a:xfrm>
            <a:off x="5256210" y="291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多尺度融合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FPN + PAN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23" name="文本框 323"/>
          <p:cNvSpPr txBox="1"/>
          <p:nvPr/>
        </p:nvSpPr>
        <p:spPr>
          <a:xfrm>
            <a:off x="6169980" y="291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检测头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Anchor-Free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24" name="右箭头 324"/>
          <p:cNvSpPr/>
          <p:nvPr/>
        </p:nvSpPr>
        <p:spPr>
          <a:xfrm>
            <a:off x="5019040" y="2665095"/>
            <a:ext cx="418465" cy="76200"/>
          </a:xfrm>
          <a:prstGeom prst="right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25" name="右箭头 325"/>
          <p:cNvSpPr/>
          <p:nvPr/>
        </p:nvSpPr>
        <p:spPr>
          <a:xfrm>
            <a:off x="5933095" y="2665000"/>
            <a:ext cx="473770" cy="70000"/>
          </a:xfrm>
          <a:prstGeom prst="right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28" name="菱形 328"/>
          <p:cNvSpPr/>
          <p:nvPr/>
        </p:nvSpPr>
        <p:spPr>
          <a:xfrm>
            <a:off x="6426865" y="3710000"/>
            <a:ext cx="130000" cy="100000"/>
          </a:xfrm>
          <a:prstGeom prst="diamond">
            <a:avLst/>
          </a:prstGeom>
          <a:solidFill>
            <a:srgbClr val="F37736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29" name="直线 329"/>
          <p:cNvCxnSpPr/>
          <p:nvPr/>
        </p:nvCxnSpPr>
        <p:spPr>
          <a:xfrm flipV="1">
            <a:off x="6556865" y="3610000"/>
            <a:ext cx="83000" cy="150000"/>
          </a:xfrm>
          <a:prstGeom prst="line">
            <a:avLst/>
          </a:prstGeom>
          <a:ln w="12700">
            <a:solidFill>
              <a:srgbClr val="F37736"/>
            </a:solidFill>
          </a:ln>
        </p:spPr>
      </p:cxnSp>
      <p:sp>
        <p:nvSpPr>
          <p:cNvPr id="330" name="圆角矩形 330"/>
          <p:cNvSpPr/>
          <p:nvPr/>
        </p:nvSpPr>
        <p:spPr>
          <a:xfrm>
            <a:off x="6639865" y="3580000"/>
            <a:ext cx="207000" cy="60000"/>
          </a:xfrm>
          <a:prstGeom prst="roundRect">
            <a:avLst/>
          </a:prstGeom>
          <a:solidFill>
            <a:srgbClr val="F37736"/>
          </a:solidFill>
          <a:ln w="10000">
            <a:solidFill>
              <a:srgbClr val="F37736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31" name="直线 331"/>
          <p:cNvCxnSpPr/>
          <p:nvPr/>
        </p:nvCxnSpPr>
        <p:spPr>
          <a:xfrm>
            <a:off x="6556865" y="3760000"/>
            <a:ext cx="83000" cy="0"/>
          </a:xfrm>
          <a:prstGeom prst="line">
            <a:avLst/>
          </a:prstGeom>
          <a:ln w="12700">
            <a:solidFill>
              <a:srgbClr val="F37736"/>
            </a:solidFill>
          </a:ln>
        </p:spPr>
      </p:cxnSp>
      <p:sp>
        <p:nvSpPr>
          <p:cNvPr id="332" name="圆角矩形 332"/>
          <p:cNvSpPr/>
          <p:nvPr/>
        </p:nvSpPr>
        <p:spPr>
          <a:xfrm>
            <a:off x="6639865" y="3730000"/>
            <a:ext cx="207000" cy="60000"/>
          </a:xfrm>
          <a:prstGeom prst="roundRect">
            <a:avLst/>
          </a:prstGeom>
          <a:solidFill>
            <a:srgbClr val="FFB570"/>
          </a:solidFill>
          <a:ln w="10000">
            <a:solidFill>
              <a:srgbClr val="F37736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33" name="直线 333"/>
          <p:cNvCxnSpPr/>
          <p:nvPr/>
        </p:nvCxnSpPr>
        <p:spPr>
          <a:xfrm>
            <a:off x="6556865" y="3760000"/>
            <a:ext cx="83000" cy="150000"/>
          </a:xfrm>
          <a:prstGeom prst="line">
            <a:avLst/>
          </a:prstGeom>
          <a:ln w="12700">
            <a:solidFill>
              <a:srgbClr val="F37736"/>
            </a:solidFill>
          </a:ln>
        </p:spPr>
      </p:cxnSp>
      <p:sp>
        <p:nvSpPr>
          <p:cNvPr id="334" name="圆角矩形 334"/>
          <p:cNvSpPr/>
          <p:nvPr/>
        </p:nvSpPr>
        <p:spPr>
          <a:xfrm>
            <a:off x="6639865" y="3880000"/>
            <a:ext cx="207000" cy="60000"/>
          </a:xfrm>
          <a:prstGeom prst="roundRect">
            <a:avLst/>
          </a:prstGeom>
          <a:solidFill>
            <a:srgbClr val="FFD0A0"/>
          </a:solidFill>
          <a:ln w="10000">
            <a:solidFill>
              <a:srgbClr val="F37736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cxnSp>
        <p:nvCxnSpPr>
          <p:cNvPr id="335" name="直线 335"/>
          <p:cNvCxnSpPr/>
          <p:nvPr/>
        </p:nvCxnSpPr>
        <p:spPr>
          <a:xfrm>
            <a:off x="5713095" y="3600400"/>
            <a:ext cx="0" cy="836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36" name="直线 336"/>
          <p:cNvCxnSpPr/>
          <p:nvPr/>
        </p:nvCxnSpPr>
        <p:spPr>
          <a:xfrm flipH="1">
            <a:off x="5618095" y="3684000"/>
            <a:ext cx="95000" cy="304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37" name="直线 337"/>
          <p:cNvCxnSpPr/>
          <p:nvPr/>
        </p:nvCxnSpPr>
        <p:spPr>
          <a:xfrm>
            <a:off x="5713095" y="3684000"/>
            <a:ext cx="95000" cy="304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38" name="直线 338"/>
          <p:cNvCxnSpPr/>
          <p:nvPr/>
        </p:nvCxnSpPr>
        <p:spPr>
          <a:xfrm flipH="1">
            <a:off x="5580095" y="3714400"/>
            <a:ext cx="38000" cy="646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39" name="直线 339"/>
          <p:cNvCxnSpPr/>
          <p:nvPr/>
        </p:nvCxnSpPr>
        <p:spPr>
          <a:xfrm flipH="1">
            <a:off x="5561095" y="3779000"/>
            <a:ext cx="19000" cy="570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0" name="直线 340"/>
          <p:cNvCxnSpPr/>
          <p:nvPr/>
        </p:nvCxnSpPr>
        <p:spPr>
          <a:xfrm>
            <a:off x="5808095" y="3714400"/>
            <a:ext cx="38000" cy="646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1" name="直线 341"/>
          <p:cNvCxnSpPr/>
          <p:nvPr/>
        </p:nvCxnSpPr>
        <p:spPr>
          <a:xfrm>
            <a:off x="5846095" y="3779000"/>
            <a:ext cx="19000" cy="570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2" name="直线 342"/>
          <p:cNvCxnSpPr/>
          <p:nvPr/>
        </p:nvCxnSpPr>
        <p:spPr>
          <a:xfrm>
            <a:off x="5713095" y="3684000"/>
            <a:ext cx="0" cy="760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3" name="直线 343"/>
          <p:cNvCxnSpPr/>
          <p:nvPr/>
        </p:nvCxnSpPr>
        <p:spPr>
          <a:xfrm flipH="1">
            <a:off x="5656095" y="3760000"/>
            <a:ext cx="57000" cy="380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4" name="直线 344"/>
          <p:cNvCxnSpPr/>
          <p:nvPr/>
        </p:nvCxnSpPr>
        <p:spPr>
          <a:xfrm>
            <a:off x="5713095" y="3760000"/>
            <a:ext cx="57000" cy="380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5" name="直线 345"/>
          <p:cNvCxnSpPr/>
          <p:nvPr/>
        </p:nvCxnSpPr>
        <p:spPr>
          <a:xfrm flipH="1">
            <a:off x="5644695" y="3798000"/>
            <a:ext cx="11400" cy="684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6" name="直线 346"/>
          <p:cNvCxnSpPr/>
          <p:nvPr/>
        </p:nvCxnSpPr>
        <p:spPr>
          <a:xfrm flipH="1">
            <a:off x="5637095" y="3866400"/>
            <a:ext cx="7600" cy="646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7" name="直线 347"/>
          <p:cNvCxnSpPr/>
          <p:nvPr/>
        </p:nvCxnSpPr>
        <p:spPr>
          <a:xfrm>
            <a:off x="5770095" y="3798000"/>
            <a:ext cx="11400" cy="684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cxnSp>
        <p:nvCxnSpPr>
          <p:cNvPr id="348" name="直线 348"/>
          <p:cNvCxnSpPr/>
          <p:nvPr/>
        </p:nvCxnSpPr>
        <p:spPr>
          <a:xfrm>
            <a:off x="5781495" y="3866400"/>
            <a:ext cx="7600" cy="64600"/>
          </a:xfrm>
          <a:prstGeom prst="line">
            <a:avLst/>
          </a:prstGeom>
          <a:ln w="10000">
            <a:solidFill>
              <a:srgbClr val="9B6BB0"/>
            </a:solidFill>
          </a:ln>
        </p:spPr>
      </p:cxnSp>
      <p:sp>
        <p:nvSpPr>
          <p:cNvPr id="349" name="椭圆 349"/>
          <p:cNvSpPr/>
          <p:nvPr/>
        </p:nvSpPr>
        <p:spPr>
          <a:xfrm>
            <a:off x="5695095" y="3582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0" name="椭圆 350"/>
          <p:cNvSpPr/>
          <p:nvPr/>
        </p:nvSpPr>
        <p:spPr>
          <a:xfrm>
            <a:off x="5657095" y="3620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1" name="椭圆 351"/>
          <p:cNvSpPr/>
          <p:nvPr/>
        </p:nvSpPr>
        <p:spPr>
          <a:xfrm>
            <a:off x="5733095" y="3620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2" name="椭圆 352"/>
          <p:cNvSpPr/>
          <p:nvPr/>
        </p:nvSpPr>
        <p:spPr>
          <a:xfrm>
            <a:off x="5695095" y="3666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3" name="椭圆 353"/>
          <p:cNvSpPr/>
          <p:nvPr/>
        </p:nvSpPr>
        <p:spPr>
          <a:xfrm>
            <a:off x="5600095" y="3696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4" name="椭圆 354"/>
          <p:cNvSpPr/>
          <p:nvPr/>
        </p:nvSpPr>
        <p:spPr>
          <a:xfrm>
            <a:off x="5790095" y="3696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5" name="椭圆 355"/>
          <p:cNvSpPr/>
          <p:nvPr/>
        </p:nvSpPr>
        <p:spPr>
          <a:xfrm>
            <a:off x="5562095" y="3761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6" name="椭圆 356"/>
          <p:cNvSpPr/>
          <p:nvPr/>
        </p:nvSpPr>
        <p:spPr>
          <a:xfrm>
            <a:off x="5828095" y="3761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7" name="椭圆 357"/>
          <p:cNvSpPr/>
          <p:nvPr/>
        </p:nvSpPr>
        <p:spPr>
          <a:xfrm>
            <a:off x="5543095" y="3818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8" name="椭圆 358"/>
          <p:cNvSpPr/>
          <p:nvPr/>
        </p:nvSpPr>
        <p:spPr>
          <a:xfrm>
            <a:off x="5847095" y="3818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59" name="椭圆 359"/>
          <p:cNvSpPr/>
          <p:nvPr/>
        </p:nvSpPr>
        <p:spPr>
          <a:xfrm>
            <a:off x="5695095" y="3742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0" name="椭圆 360"/>
          <p:cNvSpPr/>
          <p:nvPr/>
        </p:nvSpPr>
        <p:spPr>
          <a:xfrm>
            <a:off x="5638095" y="3780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1" name="椭圆 361"/>
          <p:cNvSpPr/>
          <p:nvPr/>
        </p:nvSpPr>
        <p:spPr>
          <a:xfrm>
            <a:off x="5752095" y="3780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2" name="椭圆 362"/>
          <p:cNvSpPr/>
          <p:nvPr/>
        </p:nvSpPr>
        <p:spPr>
          <a:xfrm>
            <a:off x="5626695" y="3848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3" name="椭圆 363"/>
          <p:cNvSpPr/>
          <p:nvPr/>
        </p:nvSpPr>
        <p:spPr>
          <a:xfrm>
            <a:off x="5763495" y="38484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4" name="椭圆 364"/>
          <p:cNvSpPr/>
          <p:nvPr/>
        </p:nvSpPr>
        <p:spPr>
          <a:xfrm>
            <a:off x="5619095" y="3913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5" name="椭圆 365"/>
          <p:cNvSpPr/>
          <p:nvPr/>
        </p:nvSpPr>
        <p:spPr>
          <a:xfrm>
            <a:off x="5771095" y="3913000"/>
            <a:ext cx="36000" cy="36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6" name="椭圆 366"/>
          <p:cNvSpPr/>
          <p:nvPr/>
        </p:nvSpPr>
        <p:spPr>
          <a:xfrm>
            <a:off x="4442955" y="3717500"/>
            <a:ext cx="85000" cy="85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7" name="椭圆 367"/>
          <p:cNvSpPr/>
          <p:nvPr/>
        </p:nvSpPr>
        <p:spPr>
          <a:xfrm>
            <a:off x="4599890" y="3717500"/>
            <a:ext cx="85000" cy="85000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8" name="椭圆 368"/>
          <p:cNvSpPr/>
          <p:nvPr/>
        </p:nvSpPr>
        <p:spPr>
          <a:xfrm>
            <a:off x="4756825" y="3717500"/>
            <a:ext cx="85000" cy="85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69" name="椭圆 369"/>
          <p:cNvSpPr/>
          <p:nvPr/>
        </p:nvSpPr>
        <p:spPr>
          <a:xfrm>
            <a:off x="4913760" y="3717500"/>
            <a:ext cx="85000" cy="85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70" name="椭圆 370"/>
          <p:cNvSpPr/>
          <p:nvPr/>
        </p:nvSpPr>
        <p:spPr>
          <a:xfrm>
            <a:off x="5070695" y="3717500"/>
            <a:ext cx="85000" cy="85000"/>
          </a:xfrm>
          <a:prstGeom prst="ellipse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71" name="文本框 371"/>
          <p:cNvSpPr txBox="1"/>
          <p:nvPr/>
        </p:nvSpPr>
        <p:spPr>
          <a:xfrm>
            <a:off x="4342440" y="397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时序滑窗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K = 5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72" name="文本框 372"/>
          <p:cNvSpPr txBox="1"/>
          <p:nvPr/>
        </p:nvSpPr>
        <p:spPr>
          <a:xfrm>
            <a:off x="5256210" y="397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Pose 关键点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17 keypoints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73" name="文本框 373"/>
          <p:cNvSpPr txBox="1"/>
          <p:nvPr/>
        </p:nvSpPr>
        <p:spPr>
          <a:xfrm>
            <a:off x="6169980" y="3970000"/>
            <a:ext cx="913770" cy="200000"/>
          </a:xfrm>
          <a:prstGeom prst="rect">
            <a:avLst/>
          </a:prstGeom>
          <a:noFill/>
        </p:spPr>
        <p:txBody>
          <a:bodyPr wrap="square" rtlCol="0" anchor="t"/>
          <a:p>
            <a:pPr algn="ctr"/>
            <a:r>
              <a:rPr lang="zh-CN" altLang="en-US" sz="1000" b="1">
                <a:solidFill>
                  <a:srgbClr val="652C80"/>
                </a:solidFill>
              </a:rPr>
              <a:t>规则判定</a:t>
            </a:r>
            <a:endParaRPr lang="zh-CN" altLang="en-US" sz="1000" b="1">
              <a:solidFill>
                <a:srgbClr val="652C80"/>
              </a:solidFill>
            </a:endParaRPr>
          </a:p>
          <a:p>
            <a:pPr algn="ctr"/>
            <a:r>
              <a:rPr lang="en-US" altLang="en-US" sz="750" b="0">
                <a:solidFill>
                  <a:srgbClr val="5A5A5A"/>
                </a:solidFill>
              </a:rPr>
              <a:t>Rules + Logic</a:t>
            </a:r>
            <a:endParaRPr lang="en-US" altLang="en-US" sz="750" b="0">
              <a:solidFill>
                <a:srgbClr val="5A5A5A"/>
              </a:solidFill>
            </a:endParaRPr>
          </a:p>
        </p:txBody>
      </p:sp>
      <p:sp>
        <p:nvSpPr>
          <p:cNvPr id="374" name="左箭头 374"/>
          <p:cNvSpPr/>
          <p:nvPr/>
        </p:nvSpPr>
        <p:spPr>
          <a:xfrm>
            <a:off x="5933095" y="3725000"/>
            <a:ext cx="473770" cy="70000"/>
          </a:xfrm>
          <a:prstGeom prst="left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75" name="左箭头 375"/>
          <p:cNvSpPr/>
          <p:nvPr/>
        </p:nvSpPr>
        <p:spPr>
          <a:xfrm>
            <a:off x="5198745" y="3724910"/>
            <a:ext cx="294005" cy="76200"/>
          </a:xfrm>
          <a:prstGeom prst="left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77" name="圆角矩形 377"/>
          <p:cNvSpPr/>
          <p:nvPr/>
        </p:nvSpPr>
        <p:spPr>
          <a:xfrm>
            <a:off x="4442460" y="4645025"/>
            <a:ext cx="2541270" cy="39497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52C80"/>
            </a:solidFill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78" name="文本框 378"/>
          <p:cNvSpPr txBox="1"/>
          <p:nvPr/>
        </p:nvSpPr>
        <p:spPr>
          <a:xfrm>
            <a:off x="4442440" y="4695550"/>
            <a:ext cx="2541310" cy="11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zh-CN" altLang="en-US" sz="1100" b="1">
                <a:solidFill>
                  <a:srgbClr val="652C80"/>
                </a:solidFill>
              </a:rPr>
              <a:t>加权互补风险评分</a:t>
            </a:r>
            <a:endParaRPr lang="zh-CN" altLang="en-US" sz="1100" b="1">
              <a:solidFill>
                <a:srgbClr val="652C80"/>
              </a:solidFill>
            </a:endParaRPr>
          </a:p>
        </p:txBody>
      </p:sp>
      <p:sp>
        <p:nvSpPr>
          <p:cNvPr id="379" name="矩形 379"/>
          <p:cNvSpPr/>
          <p:nvPr/>
        </p:nvSpPr>
        <p:spPr>
          <a:xfrm>
            <a:off x="4542440" y="4850000"/>
            <a:ext cx="2341310" cy="160000"/>
          </a:xfrm>
          <a:prstGeom prst="rect">
            <a:avLst/>
          </a:prstGeom>
          <a:solidFill>
            <a:srgbClr val="E5DAEC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80" name="文本框 380"/>
          <p:cNvSpPr txBox="1"/>
          <p:nvPr/>
        </p:nvSpPr>
        <p:spPr>
          <a:xfrm>
            <a:off x="4542440" y="4850000"/>
            <a:ext cx="2341310" cy="16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950" b="1" i="1">
                <a:solidFill>
                  <a:srgbClr val="652C80"/>
                </a:solidFill>
                <a:highlight>
                  <a:srgbClr val="FFFF00"/>
                </a:highlight>
              </a:rPr>
              <a:t>score = 100 × ( 1 − Π( 1 − w·c·τ ) )</a:t>
            </a:r>
            <a:endParaRPr lang="en-US" altLang="en-US" sz="950" b="1" i="1">
              <a:solidFill>
                <a:srgbClr val="652C80"/>
              </a:solidFill>
              <a:highlight>
                <a:srgbClr val="FFFF00"/>
              </a:highlight>
            </a:endParaRPr>
          </a:p>
        </p:txBody>
      </p:sp>
      <p:sp>
        <p:nvSpPr>
          <p:cNvPr id="381" name="下箭头 381"/>
          <p:cNvSpPr/>
          <p:nvPr/>
        </p:nvSpPr>
        <p:spPr>
          <a:xfrm>
            <a:off x="4756785" y="4330700"/>
            <a:ext cx="116840" cy="250825"/>
          </a:xfrm>
          <a:prstGeom prst="down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84" name="矩形 384"/>
          <p:cNvSpPr/>
          <p:nvPr/>
        </p:nvSpPr>
        <p:spPr>
          <a:xfrm>
            <a:off x="4344440" y="5180000"/>
            <a:ext cx="544262" cy="22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85" name="文本框 385"/>
          <p:cNvSpPr txBox="1"/>
          <p:nvPr/>
        </p:nvSpPr>
        <p:spPr>
          <a:xfrm>
            <a:off x="4344440" y="5180000"/>
            <a:ext cx="544262" cy="22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850" b="1">
                <a:solidFill>
                  <a:srgbClr val="FFFFFF"/>
                </a:solidFill>
              </a:rPr>
              <a:t>safe</a:t>
            </a:r>
            <a:endParaRPr lang="en-US" altLang="en-US" sz="850" b="1">
              <a:solidFill>
                <a:srgbClr val="FFFFFF"/>
              </a:solidFill>
            </a:endParaRPr>
          </a:p>
        </p:txBody>
      </p:sp>
      <p:sp>
        <p:nvSpPr>
          <p:cNvPr id="386" name="矩形 386"/>
          <p:cNvSpPr/>
          <p:nvPr/>
        </p:nvSpPr>
        <p:spPr>
          <a:xfrm>
            <a:off x="4892702" y="5180000"/>
            <a:ext cx="544262" cy="22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87" name="文本框 387"/>
          <p:cNvSpPr txBox="1"/>
          <p:nvPr/>
        </p:nvSpPr>
        <p:spPr>
          <a:xfrm>
            <a:off x="4892702" y="5180000"/>
            <a:ext cx="544262" cy="22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850" b="1">
                <a:solidFill>
                  <a:srgbClr val="FFFFFF"/>
                </a:solidFill>
              </a:rPr>
              <a:t>attn</a:t>
            </a:r>
            <a:endParaRPr lang="en-US" altLang="en-US" sz="850" b="1">
              <a:solidFill>
                <a:srgbClr val="FFFFFF"/>
              </a:solidFill>
            </a:endParaRPr>
          </a:p>
        </p:txBody>
      </p:sp>
      <p:sp>
        <p:nvSpPr>
          <p:cNvPr id="388" name="矩形 388"/>
          <p:cNvSpPr/>
          <p:nvPr/>
        </p:nvSpPr>
        <p:spPr>
          <a:xfrm>
            <a:off x="5440964" y="5180000"/>
            <a:ext cx="544262" cy="220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89" name="文本框 389"/>
          <p:cNvSpPr txBox="1"/>
          <p:nvPr/>
        </p:nvSpPr>
        <p:spPr>
          <a:xfrm>
            <a:off x="5440964" y="5180000"/>
            <a:ext cx="544262" cy="22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850" b="1">
                <a:solidFill>
                  <a:srgbClr val="FFFFFF"/>
                </a:solidFill>
              </a:rPr>
              <a:t>warn</a:t>
            </a:r>
            <a:endParaRPr lang="en-US" altLang="en-US" sz="850" b="1">
              <a:solidFill>
                <a:srgbClr val="FFFFFF"/>
              </a:solidFill>
            </a:endParaRPr>
          </a:p>
        </p:txBody>
      </p:sp>
      <p:sp>
        <p:nvSpPr>
          <p:cNvPr id="390" name="矩形 390"/>
          <p:cNvSpPr/>
          <p:nvPr/>
        </p:nvSpPr>
        <p:spPr>
          <a:xfrm>
            <a:off x="5989226" y="5180000"/>
            <a:ext cx="544262" cy="220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91" name="文本框 391"/>
          <p:cNvSpPr txBox="1"/>
          <p:nvPr/>
        </p:nvSpPr>
        <p:spPr>
          <a:xfrm>
            <a:off x="5989226" y="5180000"/>
            <a:ext cx="544262" cy="22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850" b="1">
                <a:solidFill>
                  <a:srgbClr val="FFFFFF"/>
                </a:solidFill>
              </a:rPr>
              <a:t>danger</a:t>
            </a:r>
            <a:endParaRPr lang="en-US" altLang="en-US" sz="850" b="1">
              <a:solidFill>
                <a:srgbClr val="FFFFFF"/>
              </a:solidFill>
            </a:endParaRPr>
          </a:p>
        </p:txBody>
      </p:sp>
      <p:sp>
        <p:nvSpPr>
          <p:cNvPr id="392" name="矩形 392"/>
          <p:cNvSpPr/>
          <p:nvPr/>
        </p:nvSpPr>
        <p:spPr>
          <a:xfrm>
            <a:off x="6537488" y="5180000"/>
            <a:ext cx="544262" cy="22000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93" name="文本框 393"/>
          <p:cNvSpPr txBox="1"/>
          <p:nvPr/>
        </p:nvSpPr>
        <p:spPr>
          <a:xfrm>
            <a:off x="6537488" y="5180000"/>
            <a:ext cx="544262" cy="220000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850" b="1">
                <a:solidFill>
                  <a:srgbClr val="FFFFFF"/>
                </a:solidFill>
              </a:rPr>
              <a:t>crit</a:t>
            </a:r>
            <a:endParaRPr lang="en-US" altLang="en-US" sz="850" b="1">
              <a:solidFill>
                <a:srgbClr val="FFFFFF"/>
              </a:solidFill>
            </a:endParaRPr>
          </a:p>
        </p:txBody>
      </p:sp>
      <p:sp>
        <p:nvSpPr>
          <p:cNvPr id="394" name="下箭头 394"/>
          <p:cNvSpPr/>
          <p:nvPr/>
        </p:nvSpPr>
        <p:spPr>
          <a:xfrm>
            <a:off x="5678170" y="5062855"/>
            <a:ext cx="76200" cy="116840"/>
          </a:xfrm>
          <a:prstGeom prst="down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395" name="文本框 395"/>
          <p:cNvSpPr txBox="1"/>
          <p:nvPr/>
        </p:nvSpPr>
        <p:spPr>
          <a:xfrm>
            <a:off x="4342440" y="5410000"/>
            <a:ext cx="2741310" cy="100000"/>
          </a:xfrm>
          <a:prstGeom prst="rect">
            <a:avLst/>
          </a:prstGeom>
          <a:noFill/>
        </p:spPr>
        <p:txBody>
          <a:bodyPr wrap="square" rtlCol="0" anchor="t"/>
          <a:p>
            <a:pPr algn="l"/>
            <a:r>
              <a:rPr lang="en-US" altLang="en-US" sz="700" b="0">
                <a:solidFill>
                  <a:srgbClr val="5A5A5A"/>
                </a:solidFill>
              </a:rPr>
              <a:t>0</a:t>
            </a:r>
            <a:endParaRPr lang="en-US" altLang="en-US" sz="700" b="0">
              <a:solidFill>
                <a:srgbClr val="5A5A5A"/>
              </a:solidFill>
            </a:endParaRPr>
          </a:p>
        </p:txBody>
      </p:sp>
      <p:sp>
        <p:nvSpPr>
          <p:cNvPr id="396" name="文本框 396"/>
          <p:cNvSpPr txBox="1"/>
          <p:nvPr/>
        </p:nvSpPr>
        <p:spPr>
          <a:xfrm>
            <a:off x="4342440" y="5410000"/>
            <a:ext cx="2741310" cy="100000"/>
          </a:xfrm>
          <a:prstGeom prst="rect">
            <a:avLst/>
          </a:prstGeom>
          <a:noFill/>
        </p:spPr>
        <p:txBody>
          <a:bodyPr wrap="square" rtlCol="0" anchor="t"/>
          <a:p>
            <a:pPr algn="r"/>
            <a:r>
              <a:rPr lang="en-US" altLang="en-US" sz="700" b="0">
                <a:solidFill>
                  <a:srgbClr val="5A5A5A"/>
                </a:solidFill>
              </a:rPr>
              <a:t>100</a:t>
            </a:r>
            <a:endParaRPr lang="en-US" altLang="en-US" sz="700" b="0">
              <a:solidFill>
                <a:srgbClr val="5A5A5A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7792720" y="1690370"/>
            <a:ext cx="4306570" cy="4003675"/>
          </a:xfrm>
          <a:prstGeom prst="rect">
            <a:avLst/>
          </a:prstGeom>
          <a:noFill/>
          <a:ln w="19050" cmpd="sng">
            <a:solidFill>
              <a:schemeClr val="accent2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103" name="圆角矩形 102"/>
          <p:cNvSpPr/>
          <p:nvPr/>
        </p:nvSpPr>
        <p:spPr>
          <a:xfrm>
            <a:off x="7784465" y="1367155"/>
            <a:ext cx="1663065" cy="61849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200" b="1"/>
              <a:t>        </a:t>
            </a:r>
            <a:r>
              <a:rPr lang="zh-CN" altLang="en-US" sz="2200" b="1"/>
              <a:t>输出</a:t>
            </a:r>
            <a:endParaRPr lang="zh-CN" altLang="en-US" sz="2200" b="1"/>
          </a:p>
        </p:txBody>
      </p:sp>
      <p:pic>
        <p:nvPicPr>
          <p:cNvPr id="105" name="图片 104" descr="2-3报表输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440" y="1435100"/>
            <a:ext cx="454660" cy="454660"/>
          </a:xfrm>
          <a:prstGeom prst="rect">
            <a:avLst/>
          </a:prstGeom>
        </p:spPr>
      </p:pic>
      <p:sp>
        <p:nvSpPr>
          <p:cNvPr id="106" name="右箭头 105"/>
          <p:cNvSpPr/>
          <p:nvPr/>
        </p:nvSpPr>
        <p:spPr>
          <a:xfrm>
            <a:off x="3355340" y="2722245"/>
            <a:ext cx="63881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chemeClr val="accent2">
                  <a:lumMod val="75000"/>
                  <a:alpha val="29000"/>
                </a:schemeClr>
              </a:gs>
              <a:gs pos="50000">
                <a:schemeClr val="accent2">
                  <a:lumMod val="75000"/>
                  <a:alpha val="50000"/>
                </a:schemeClr>
              </a:gs>
              <a:gs pos="83000">
                <a:schemeClr val="accent2">
                  <a:lumMod val="75000"/>
                  <a:alpha val="69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3408045" y="3318510"/>
            <a:ext cx="6870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 b="1">
                <a:solidFill>
                  <a:schemeClr val="bg1"/>
                </a:solidFill>
                <a:sym typeface="+mn-ea"/>
              </a:rPr>
              <a:t>格式</a:t>
            </a:r>
            <a:endParaRPr lang="zh-CN" altLang="en-US" sz="1400" b="1">
              <a:solidFill>
                <a:schemeClr val="bg1"/>
              </a:solidFill>
              <a:sym typeface="+mn-ea"/>
            </a:endParaRPr>
          </a:p>
          <a:p>
            <a:pPr indent="0" algn="l">
              <a:buNone/>
            </a:pPr>
            <a:r>
              <a:rPr lang="zh-CN" altLang="en-US" sz="1400" b="1">
                <a:solidFill>
                  <a:schemeClr val="bg1"/>
                </a:solidFill>
                <a:sym typeface="+mn-ea"/>
              </a:rPr>
              <a:t>转换</a:t>
            </a:r>
            <a:endParaRPr lang="zh-CN" altLang="en-US" sz="14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7965440" y="2108835"/>
            <a:ext cx="1637030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圆角矩形 108"/>
          <p:cNvSpPr/>
          <p:nvPr/>
        </p:nvSpPr>
        <p:spPr>
          <a:xfrm>
            <a:off x="8063230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原始检测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965440" y="2722245"/>
            <a:ext cx="17830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sz="1400">
                <a:solidFill>
                  <a:srgbClr val="4B5563"/>
                </a:solidFill>
                <a:latin typeface="微软雅黑" panose="020B0503020204020204" pitchFamily="34" charset="-122"/>
                <a:sym typeface="+mn-ea"/>
              </a:rPr>
              <a:t>•  bbox / class_id
•  class_name
•  confidence</a:t>
            </a:r>
            <a:endParaRPr sz="14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9692005" y="2108835"/>
            <a:ext cx="2268220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9789795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行为事件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9692005" y="2722245"/>
            <a:ext cx="23088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sz="1400">
                <a:solidFill>
                  <a:srgbClr val="4B5563"/>
                </a:solidFill>
                <a:latin typeface="微软雅黑" panose="020B0503020204020204" pitchFamily="34" charset="-122"/>
                <a:sym typeface="+mn-ea"/>
              </a:rPr>
              <a:t>•  phone_use / calling
•  smoking / no_seatbelt
•  hands_off_wheel</a:t>
            </a:r>
            <a:endParaRPr sz="14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7965440" y="3894455"/>
            <a:ext cx="2000250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圆角矩形 114"/>
          <p:cNvSpPr/>
          <p:nvPr/>
        </p:nvSpPr>
        <p:spPr>
          <a:xfrm>
            <a:off x="8063230" y="417258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风险量化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7965440" y="4507865"/>
            <a:ext cx="20066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sz="1400">
                <a:solidFill>
                  <a:srgbClr val="4B5563"/>
                </a:solidFill>
                <a:latin typeface="微软雅黑" panose="020B0503020204020204" pitchFamily="34" charset="-122"/>
                <a:sym typeface="+mn-ea"/>
              </a:rPr>
              <a:t>•  Risk Score 0-100
•  Tier: safe / warning
     / danger / critical</a:t>
            </a:r>
            <a:endParaRPr sz="14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100310" y="3894455"/>
            <a:ext cx="2000250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10198100" y="417258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展示输出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0100310" y="4507865"/>
            <a:ext cx="20066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sz="1400">
                <a:solidFill>
                  <a:srgbClr val="4B5563"/>
                </a:solidFill>
                <a:latin typeface="微软雅黑" panose="020B0503020204020204" pitchFamily="34" charset="-122"/>
                <a:sym typeface="+mn-ea"/>
              </a:rPr>
              <a:t>•  监控界面 / 状态
•  JSON 日志</a:t>
            </a:r>
            <a:endParaRPr sz="14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20" name="右箭头 119"/>
          <p:cNvSpPr/>
          <p:nvPr/>
        </p:nvSpPr>
        <p:spPr>
          <a:xfrm>
            <a:off x="7216140" y="2722245"/>
            <a:ext cx="588645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B08FC1">
                  <a:alpha val="59000"/>
                </a:srgbClr>
              </a:gs>
              <a:gs pos="53000">
                <a:srgbClr val="6A2686">
                  <a:alpha val="43000"/>
                </a:srgbClr>
              </a:gs>
              <a:gs pos="83000">
                <a:srgbClr val="6A2686">
                  <a:alpha val="48000"/>
                </a:srgbClr>
              </a:gs>
              <a:gs pos="100000">
                <a:srgbClr val="6A268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下箭头 381"/>
          <p:cNvSpPr/>
          <p:nvPr/>
        </p:nvSpPr>
        <p:spPr>
          <a:xfrm>
            <a:off x="6656705" y="3263900"/>
            <a:ext cx="116840" cy="250825"/>
          </a:xfrm>
          <a:prstGeom prst="downArrow">
            <a:avLst/>
          </a:prstGeom>
          <a:solidFill>
            <a:srgbClr val="652C80"/>
          </a:solidFill>
          <a:ln>
            <a:noFill/>
          </a:ln>
        </p:spPr>
        <p:txBody>
          <a:bodyPr wrap="square" rtlCol="0" anchor="ctr"/>
          <a:p>
            <a:pPr algn="ctr"/>
            <a:endParaRPr lang="zh-CN" altLang="en-US"/>
          </a:p>
        </p:txBody>
      </p:sp>
      <p:sp>
        <p:nvSpPr>
          <p:cNvPr id="5" name="文本框 314"/>
          <p:cNvSpPr txBox="1"/>
          <p:nvPr/>
        </p:nvSpPr>
        <p:spPr>
          <a:xfrm>
            <a:off x="6617970" y="2656840"/>
            <a:ext cx="277495" cy="84455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400" b="1">
                <a:solidFill>
                  <a:srgbClr val="652C80"/>
                </a:solidFill>
              </a:rPr>
              <a:t>reg</a:t>
            </a:r>
            <a:endParaRPr lang="en-US" altLang="en-US" sz="400" b="1">
              <a:solidFill>
                <a:srgbClr val="652C80"/>
              </a:solidFill>
            </a:endParaRPr>
          </a:p>
        </p:txBody>
      </p:sp>
      <p:sp>
        <p:nvSpPr>
          <p:cNvPr id="6" name="文本框 314"/>
          <p:cNvSpPr txBox="1"/>
          <p:nvPr/>
        </p:nvSpPr>
        <p:spPr>
          <a:xfrm>
            <a:off x="6617970" y="2802255"/>
            <a:ext cx="277495" cy="84455"/>
          </a:xfrm>
          <a:prstGeom prst="rect">
            <a:avLst/>
          </a:prstGeom>
          <a:noFill/>
        </p:spPr>
        <p:txBody>
          <a:bodyPr wrap="square" rtlCol="0" anchor="ctr"/>
          <a:p>
            <a:pPr algn="ctr"/>
            <a:r>
              <a:rPr lang="en-US" altLang="en-US" sz="400" b="1">
                <a:solidFill>
                  <a:srgbClr val="652C80"/>
                </a:solidFill>
              </a:rPr>
              <a:t>DFL</a:t>
            </a:r>
            <a:endParaRPr lang="en-US" altLang="en-US" sz="400" b="1">
              <a:solidFill>
                <a:srgbClr val="652C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疲劳检测算法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775" y="1690370"/>
            <a:ext cx="3342640" cy="4003675"/>
          </a:xfrm>
          <a:prstGeom prst="rect">
            <a:avLst/>
          </a:prstGeom>
          <a:noFill/>
          <a:ln w="19050" cmpd="sng">
            <a:solidFill>
              <a:schemeClr val="accent2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grpSp>
        <p:nvGrpSpPr>
          <p:cNvPr id="18" name="组合 17"/>
          <p:cNvGrpSpPr/>
          <p:nvPr/>
        </p:nvGrpSpPr>
        <p:grpSpPr>
          <a:xfrm>
            <a:off x="86995" y="1367155"/>
            <a:ext cx="1662430" cy="618490"/>
            <a:chOff x="2439" y="2331"/>
            <a:chExt cx="2618" cy="974"/>
          </a:xfrm>
          <a:solidFill>
            <a:schemeClr val="accent2">
              <a:lumMod val="75000"/>
            </a:schemeClr>
          </a:solidFill>
        </p:grpSpPr>
        <p:sp>
          <p:nvSpPr>
            <p:cNvPr id="19" name="圆角矩形 18"/>
            <p:cNvSpPr/>
            <p:nvPr/>
          </p:nvSpPr>
          <p:spPr>
            <a:xfrm>
              <a:off x="2439" y="2331"/>
              <a:ext cx="2619" cy="97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200" b="1"/>
                <a:t>        </a:t>
              </a:r>
              <a:r>
                <a:rPr lang="zh-CN" altLang="en-US" sz="2200" b="1"/>
                <a:t>输入</a:t>
              </a:r>
              <a:endParaRPr lang="zh-CN" altLang="en-US" sz="2200" b="1"/>
            </a:p>
          </p:txBody>
        </p:sp>
        <p:pic>
          <p:nvPicPr>
            <p:cNvPr id="23" name="图片 22" descr="输入 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36" y="2508"/>
              <a:ext cx="619" cy="619"/>
            </a:xfrm>
            <a:prstGeom prst="rect">
              <a:avLst/>
            </a:prstGeom>
            <a:grpFill/>
          </p:spPr>
        </p:pic>
      </p:grpSp>
      <p:pic>
        <p:nvPicPr>
          <p:cNvPr id="25" name="图片 24" descr="视频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" y="2571115"/>
            <a:ext cx="499745" cy="499745"/>
          </a:xfrm>
          <a:prstGeom prst="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560705" y="2653030"/>
            <a:ext cx="65976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视频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560705" y="4246245"/>
            <a:ext cx="65976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图片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5" name="图片 44" descr="图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210050"/>
            <a:ext cx="404495" cy="404495"/>
          </a:xfrm>
          <a:prstGeom prst="rect">
            <a:avLst/>
          </a:prstGeom>
        </p:spPr>
      </p:pic>
      <p:sp>
        <p:nvSpPr>
          <p:cNvPr id="74" name="圆角矩形 73"/>
          <p:cNvSpPr/>
          <p:nvPr/>
        </p:nvSpPr>
        <p:spPr>
          <a:xfrm>
            <a:off x="1616075" y="2108835"/>
            <a:ext cx="1637030" cy="2900680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713865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自定义数据集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572260" y="3176270"/>
            <a:ext cx="17830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Normal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Yawning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Looking Around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Fatigued Driving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79" name="肘形连接符 78"/>
          <p:cNvCxnSpPr>
            <a:stCxn id="26" idx="3"/>
            <a:endCxn id="77" idx="1"/>
          </p:cNvCxnSpPr>
          <p:nvPr/>
        </p:nvCxnSpPr>
        <p:spPr>
          <a:xfrm>
            <a:off x="1220470" y="2820670"/>
            <a:ext cx="351790" cy="832485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1095375" y="3087370"/>
            <a:ext cx="20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抽帧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81" name="肘形连接符 80"/>
          <p:cNvCxnSpPr>
            <a:stCxn id="41" idx="3"/>
            <a:endCxn id="77" idx="1"/>
          </p:cNvCxnSpPr>
          <p:nvPr/>
        </p:nvCxnSpPr>
        <p:spPr>
          <a:xfrm flipV="1">
            <a:off x="1220470" y="3653155"/>
            <a:ext cx="351790" cy="760730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1095375" y="3841115"/>
            <a:ext cx="3543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标注</a:t>
            </a: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3989070" y="1223010"/>
            <a:ext cx="4599940" cy="5297170"/>
          </a:xfrm>
          <a:prstGeom prst="rect">
            <a:avLst/>
          </a:prstGeom>
          <a:noFill/>
          <a:ln w="19050" cmpd="sng">
            <a:solidFill>
              <a:srgbClr val="7030A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grpSp>
        <p:nvGrpSpPr>
          <p:cNvPr id="33" name="组合 32"/>
          <p:cNvGrpSpPr/>
          <p:nvPr/>
        </p:nvGrpSpPr>
        <p:grpSpPr>
          <a:xfrm>
            <a:off x="3973830" y="1026160"/>
            <a:ext cx="1662430" cy="618490"/>
            <a:chOff x="6268" y="2153"/>
            <a:chExt cx="2618" cy="974"/>
          </a:xfrm>
        </p:grpSpPr>
        <p:sp>
          <p:nvSpPr>
            <p:cNvPr id="91" name="圆角矩形 90"/>
            <p:cNvSpPr/>
            <p:nvPr/>
          </p:nvSpPr>
          <p:spPr>
            <a:xfrm>
              <a:off x="6268" y="2153"/>
              <a:ext cx="2619" cy="97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200" b="1"/>
                <a:t>        </a:t>
              </a:r>
              <a:r>
                <a:rPr lang="zh-CN" altLang="en-US" sz="2200" b="1"/>
                <a:t>算法</a:t>
              </a:r>
              <a:endParaRPr lang="zh-CN" altLang="en-US" sz="2200" b="1"/>
            </a:p>
          </p:txBody>
        </p:sp>
        <p:pic>
          <p:nvPicPr>
            <p:cNvPr id="93" name="图片 92" descr="算法包管理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8" y="2330"/>
              <a:ext cx="707" cy="665"/>
            </a:xfrm>
            <a:prstGeom prst="rect">
              <a:avLst/>
            </a:prstGeom>
          </p:spPr>
        </p:pic>
      </p:grpSp>
      <p:sp>
        <p:nvSpPr>
          <p:cNvPr id="96" name="圆角矩形 95"/>
          <p:cNvSpPr/>
          <p:nvPr/>
        </p:nvSpPr>
        <p:spPr>
          <a:xfrm>
            <a:off x="4043680" y="3386455"/>
            <a:ext cx="4431030" cy="308038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200"/>
          </a:p>
        </p:txBody>
      </p:sp>
      <p:sp>
        <p:nvSpPr>
          <p:cNvPr id="97" name="文本框 96"/>
          <p:cNvSpPr txBox="1"/>
          <p:nvPr/>
        </p:nvSpPr>
        <p:spPr>
          <a:xfrm>
            <a:off x="3726815" y="4246245"/>
            <a:ext cx="1517015" cy="207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200" b="1">
                <a:solidFill>
                  <a:srgbClr val="652C80"/>
                </a:solidFill>
                <a:sym typeface="+mn-ea"/>
              </a:rPr>
              <a:t>特征提取</a:t>
            </a:r>
            <a:endParaRPr lang="en-US" altLang="zh-CN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077325" y="1690370"/>
            <a:ext cx="3008630" cy="4003675"/>
          </a:xfrm>
          <a:prstGeom prst="rect">
            <a:avLst/>
          </a:prstGeom>
          <a:noFill/>
          <a:ln w="19050" cmpd="sng">
            <a:solidFill>
              <a:schemeClr val="accent2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103" name="圆角矩形 102"/>
          <p:cNvSpPr/>
          <p:nvPr/>
        </p:nvSpPr>
        <p:spPr>
          <a:xfrm>
            <a:off x="9052560" y="1367155"/>
            <a:ext cx="1663065" cy="61849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200" b="1"/>
              <a:t>        </a:t>
            </a:r>
            <a:r>
              <a:rPr lang="zh-CN" altLang="en-US" sz="2200" b="1"/>
              <a:t>输出</a:t>
            </a:r>
            <a:endParaRPr lang="zh-CN" altLang="en-US" sz="2200" b="1"/>
          </a:p>
        </p:txBody>
      </p:sp>
      <p:pic>
        <p:nvPicPr>
          <p:cNvPr id="105" name="图片 104" descr="2-3报表输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535" y="1435100"/>
            <a:ext cx="454660" cy="454660"/>
          </a:xfrm>
          <a:prstGeom prst="rect">
            <a:avLst/>
          </a:prstGeom>
        </p:spPr>
      </p:pic>
      <p:sp>
        <p:nvSpPr>
          <p:cNvPr id="106" name="右箭头 105"/>
          <p:cNvSpPr/>
          <p:nvPr/>
        </p:nvSpPr>
        <p:spPr>
          <a:xfrm>
            <a:off x="3355340" y="2722245"/>
            <a:ext cx="638810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chemeClr val="accent2">
                  <a:lumMod val="75000"/>
                  <a:alpha val="29000"/>
                </a:schemeClr>
              </a:gs>
              <a:gs pos="50000">
                <a:schemeClr val="accent2">
                  <a:lumMod val="75000"/>
                  <a:alpha val="50000"/>
                </a:schemeClr>
              </a:gs>
              <a:gs pos="83000">
                <a:schemeClr val="accent2">
                  <a:lumMod val="75000"/>
                  <a:alpha val="69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3408045" y="3318510"/>
            <a:ext cx="6870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zh-CN" altLang="en-US" sz="1400" b="1">
                <a:solidFill>
                  <a:schemeClr val="bg1"/>
                </a:solidFill>
                <a:sym typeface="+mn-ea"/>
              </a:rPr>
              <a:t>格式</a:t>
            </a:r>
            <a:endParaRPr lang="zh-CN" altLang="en-US" sz="1400" b="1">
              <a:solidFill>
                <a:schemeClr val="bg1"/>
              </a:solidFill>
              <a:sym typeface="+mn-ea"/>
            </a:endParaRPr>
          </a:p>
          <a:p>
            <a:pPr indent="0" algn="l">
              <a:buNone/>
            </a:pPr>
            <a:r>
              <a:rPr lang="zh-CN" altLang="en-US" sz="1400" b="1">
                <a:solidFill>
                  <a:schemeClr val="bg1"/>
                </a:solidFill>
                <a:sym typeface="+mn-ea"/>
              </a:rPr>
              <a:t>转换</a:t>
            </a:r>
            <a:endParaRPr lang="zh-CN" altLang="en-US" sz="14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9159875" y="2108835"/>
            <a:ext cx="1397000" cy="1732280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圆角矩形 108"/>
          <p:cNvSpPr/>
          <p:nvPr/>
        </p:nvSpPr>
        <p:spPr>
          <a:xfrm>
            <a:off x="9257030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原始检测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9159240" y="2722245"/>
            <a:ext cx="17240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EAR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MAR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Yaw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Pitch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10629265" y="2108835"/>
            <a:ext cx="1352550" cy="1732280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10645140" y="238696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持续指标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0654665" y="2722245"/>
            <a:ext cx="23088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Blink Rate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200" b="0">
                <a:solidFill>
                  <a:srgbClr val="4B5563"/>
                </a:solidFill>
                <a:latin typeface="微软雅黑" panose="020B0503020204020204" pitchFamily="34" charset="-122"/>
              </a:rPr>
              <a:t>闭眼持续时间</a:t>
            </a:r>
            <a:endParaRPr lang="zh-CN" altLang="en-US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Yawn Count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Nod Count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PERCLOS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9158605" y="3894455"/>
            <a:ext cx="1392555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圆角矩形 114"/>
          <p:cNvSpPr/>
          <p:nvPr/>
        </p:nvSpPr>
        <p:spPr>
          <a:xfrm>
            <a:off x="9257030" y="4172585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结果输出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159240" y="4507865"/>
            <a:ext cx="2006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Fatigue Score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200" b="0">
                <a:solidFill>
                  <a:srgbClr val="4B5563"/>
                </a:solidFill>
                <a:latin typeface="微软雅黑" panose="020B0503020204020204" pitchFamily="34" charset="-122"/>
              </a:rPr>
              <a:t>Fatigue Level</a:t>
            </a:r>
            <a:endParaRPr lang="en-US" altLang="zh-CN" sz="1200" b="0">
              <a:solidFill>
                <a:srgbClr val="4B5563"/>
              </a:solidFill>
              <a:latin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645775" y="3939540"/>
            <a:ext cx="1337945" cy="156654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圆角矩形 117"/>
          <p:cNvSpPr/>
          <p:nvPr/>
        </p:nvSpPr>
        <p:spPr>
          <a:xfrm>
            <a:off x="10617835" y="4217670"/>
            <a:ext cx="144145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展示输出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0610850" y="4552950"/>
            <a:ext cx="2006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sz="12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 </a:t>
            </a:r>
            <a:r>
              <a:rPr lang="zh-CN" sz="12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检测等级</a:t>
            </a:r>
            <a:r>
              <a:rPr sz="12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 状态
•  日志</a:t>
            </a:r>
            <a:r>
              <a:rPr lang="zh-CN" sz="12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</a:t>
            </a:r>
            <a:endParaRPr sz="1200" b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0" name="右箭头 119"/>
          <p:cNvSpPr/>
          <p:nvPr/>
        </p:nvSpPr>
        <p:spPr>
          <a:xfrm>
            <a:off x="8513445" y="2722245"/>
            <a:ext cx="588645" cy="1637030"/>
          </a:xfrm>
          <a:prstGeom prst="rightArrow">
            <a:avLst/>
          </a:prstGeom>
          <a:gradFill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0000">
                <a:srgbClr val="B08FC1">
                  <a:alpha val="59000"/>
                </a:srgbClr>
              </a:gs>
              <a:gs pos="53000">
                <a:srgbClr val="6A2686">
                  <a:alpha val="43000"/>
                </a:srgbClr>
              </a:gs>
              <a:gs pos="83000">
                <a:srgbClr val="6A2686">
                  <a:alpha val="48000"/>
                </a:srgbClr>
              </a:gs>
              <a:gs pos="100000">
                <a:srgbClr val="6A268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4165600" y="3366135"/>
            <a:ext cx="1050290" cy="1055370"/>
            <a:chOff x="6559" y="6349"/>
            <a:chExt cx="2112" cy="3070"/>
          </a:xfrm>
        </p:grpSpPr>
        <p:grpSp>
          <p:nvGrpSpPr>
            <p:cNvPr id="31" name="组合 30"/>
            <p:cNvGrpSpPr/>
            <p:nvPr/>
          </p:nvGrpSpPr>
          <p:grpSpPr>
            <a:xfrm>
              <a:off x="6559" y="6725"/>
              <a:ext cx="2112" cy="2694"/>
              <a:chOff x="6559" y="6725"/>
              <a:chExt cx="2112" cy="2694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21120000">
                <a:off x="6559" y="7323"/>
                <a:ext cx="2061" cy="2097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scene3d>
                <a:camera prst="isometricOffAxis2Top"/>
                <a:lightRig rig="threePt" dir="t"/>
              </a:scene3d>
            </p:spPr>
          </p:pic>
          <p:pic>
            <p:nvPicPr>
              <p:cNvPr id="6" name="图片 5"/>
              <p:cNvPicPr/>
              <p:nvPr/>
            </p:nvPicPr>
            <p:blipFill>
              <a:blip r:embed="rId7"/>
              <a:srcRect t="5393"/>
              <a:stretch>
                <a:fillRect/>
              </a:stretch>
            </p:blipFill>
            <p:spPr>
              <a:xfrm rot="21120000">
                <a:off x="6839" y="7437"/>
                <a:ext cx="1833" cy="1343"/>
              </a:xfrm>
              <a:prstGeom prst="rect">
                <a:avLst/>
              </a:prstGeom>
              <a:scene3d>
                <a:camera prst="isometricOffAxis2Top"/>
                <a:lightRig rig="threePt" dir="t">
                  <a:rot lat="0" lon="0" rev="6000000"/>
                </a:lightRig>
              </a:scene3d>
              <a:sp3d prstMaterial="clear"/>
            </p:spPr>
          </p:pic>
          <p:pic>
            <p:nvPicPr>
              <p:cNvPr id="8" name="图片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21060000">
                <a:off x="6845" y="7120"/>
                <a:ext cx="1698" cy="1427"/>
              </a:xfrm>
              <a:prstGeom prst="rect">
                <a:avLst/>
              </a:prstGeom>
              <a:scene3d>
                <a:camera prst="isometricOffAxis2Top"/>
                <a:lightRig rig="soft" dir="t">
                  <a:rot lat="0" lon="0" rev="0"/>
                </a:lightRig>
              </a:scene3d>
              <a:sp3d prstMaterial="clear"/>
            </p:spPr>
          </p:pic>
          <p:grpSp>
            <p:nvGrpSpPr>
              <p:cNvPr id="28" name="组合 27"/>
              <p:cNvGrpSpPr/>
              <p:nvPr/>
            </p:nvGrpSpPr>
            <p:grpSpPr>
              <a:xfrm rot="20940000">
                <a:off x="6831" y="6917"/>
                <a:ext cx="1737" cy="1334"/>
                <a:chOff x="10787" y="9988"/>
                <a:chExt cx="2600" cy="2670"/>
              </a:xfrm>
              <a:scene3d>
                <a:camera prst="isometricOffAxis2Top"/>
                <a:lightRig rig="glow" dir="t">
                  <a:rot lat="0" lon="0" rev="0"/>
                </a:lightRig>
              </a:scene3d>
            </p:grpSpPr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9">
                  <a:lum contrast="100000"/>
                </a:blip>
                <a:stretch>
                  <a:fillRect/>
                </a:stretch>
              </p:blipFill>
              <p:spPr>
                <a:xfrm>
                  <a:off x="10787" y="9988"/>
                  <a:ext cx="2600" cy="2670"/>
                </a:xfrm>
                <a:prstGeom prst="rect">
                  <a:avLst/>
                </a:prstGeom>
                <a:sp3d prstMaterial="matte"/>
              </p:spPr>
            </p:pic>
            <p:sp>
              <p:nvSpPr>
                <p:cNvPr id="11" name="矩形 10"/>
                <p:cNvSpPr/>
                <p:nvPr/>
              </p:nvSpPr>
              <p:spPr>
                <a:xfrm>
                  <a:off x="11379" y="10587"/>
                  <a:ext cx="1433" cy="12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1532" y="10365"/>
                  <a:ext cx="871" cy="3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1832" y="10391"/>
                  <a:ext cx="871" cy="3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12120" y="12114"/>
                  <a:ext cx="251" cy="3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1874" y="12123"/>
                  <a:ext cx="251" cy="3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 rot="2220000">
                  <a:off x="12403" y="11774"/>
                  <a:ext cx="251" cy="5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rot="19260000">
                  <a:off x="11531" y="11722"/>
                  <a:ext cx="251" cy="57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 rot="19320000">
                  <a:off x="11752" y="12180"/>
                  <a:ext cx="251" cy="1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rot="16860000">
                  <a:off x="11699" y="10269"/>
                  <a:ext cx="251" cy="1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rot="14760000">
                  <a:off x="12305" y="10265"/>
                  <a:ext cx="251" cy="1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2013" y="10194"/>
                  <a:ext cx="251" cy="3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sp3d prstMaterial="matte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200"/>
                </a:p>
              </p:txBody>
            </p:sp>
          </p:grpSp>
          <p:pic>
            <p:nvPicPr>
              <p:cNvPr id="29" name="图片 2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rot="20940000">
                <a:off x="6772" y="6725"/>
                <a:ext cx="1720" cy="1188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pic>
          <p:nvPicPr>
            <p:cNvPr id="30" name="图片 29"/>
            <p:cNvPicPr/>
            <p:nvPr/>
          </p:nvPicPr>
          <p:blipFill>
            <a:blip r:embed="rId11"/>
            <a:stretch>
              <a:fillRect/>
            </a:stretch>
          </p:blipFill>
          <p:spPr>
            <a:xfrm rot="21000000">
              <a:off x="6850" y="6349"/>
              <a:ext cx="1607" cy="1244"/>
            </a:xfrm>
            <a:prstGeom prst="rect">
              <a:avLst/>
            </a:prstGeom>
            <a:scene3d>
              <a:camera prst="isometricOffAxis2Top"/>
              <a:lightRig rig="threePt" dir="t"/>
            </a:scene3d>
          </p:spPr>
        </p:pic>
      </p:grpSp>
      <p:grpSp>
        <p:nvGrpSpPr>
          <p:cNvPr id="48" name="组合 47"/>
          <p:cNvGrpSpPr/>
          <p:nvPr/>
        </p:nvGrpSpPr>
        <p:grpSpPr>
          <a:xfrm>
            <a:off x="5786755" y="3477895"/>
            <a:ext cx="1068705" cy="332740"/>
            <a:chOff x="221" y="9007"/>
            <a:chExt cx="7832" cy="3350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1" y="9055"/>
              <a:ext cx="2942" cy="3281"/>
            </a:xfrm>
            <a:prstGeom prst="rect">
              <a:avLst/>
            </a:prstGeom>
            <a:scene3d>
              <a:camera prst="isometricOffAxis1Right">
                <a:rot lat="1080000" lon="17760000" rev="0"/>
              </a:camera>
              <a:lightRig rig="threePt" dir="t"/>
            </a:scene3d>
          </p:spPr>
        </p:pic>
        <p:grpSp>
          <p:nvGrpSpPr>
            <p:cNvPr id="47" name="组合 46"/>
            <p:cNvGrpSpPr/>
            <p:nvPr/>
          </p:nvGrpSpPr>
          <p:grpSpPr>
            <a:xfrm>
              <a:off x="583" y="9007"/>
              <a:ext cx="7470" cy="3351"/>
              <a:chOff x="583" y="9007"/>
              <a:chExt cx="7470" cy="3351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3" y="9128"/>
                <a:ext cx="2948" cy="3230"/>
              </a:xfrm>
              <a:prstGeom prst="rect">
                <a:avLst/>
              </a:prstGeom>
              <a:scene3d>
                <a:camera prst="isometricOffAxis1Right">
                  <a:rot lat="1080000" lon="17760000" rev="0"/>
                </a:camera>
                <a:lightRig rig="threePt" dir="t"/>
              </a:scene3d>
            </p:spPr>
          </p:pic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7" y="9128"/>
                <a:ext cx="2869" cy="3210"/>
              </a:xfrm>
              <a:prstGeom prst="rect">
                <a:avLst/>
              </a:prstGeom>
              <a:scene3d>
                <a:camera prst="isometricOffAxis1Right">
                  <a:rot lat="1080000" lon="17760000" rev="0"/>
                </a:camera>
                <a:lightRig rig="threePt" dir="t"/>
              </a:scene3d>
            </p:spPr>
          </p:pic>
          <p:pic>
            <p:nvPicPr>
              <p:cNvPr id="37" name="图片 36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1" y="9198"/>
                <a:ext cx="2918" cy="3140"/>
              </a:xfrm>
              <a:prstGeom prst="rect">
                <a:avLst/>
              </a:prstGeom>
              <a:scene3d>
                <a:camera prst="isometricOffAxis1Right">
                  <a:rot lat="1080000" lon="17760000" rev="0"/>
                </a:camera>
                <a:lightRig rig="threePt" dir="t"/>
              </a:scene3d>
            </p:spPr>
          </p:pic>
          <p:pic>
            <p:nvPicPr>
              <p:cNvPr id="40" name="图片 39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59" y="9037"/>
                <a:ext cx="2940" cy="3150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0" y="9055"/>
                <a:ext cx="2940" cy="3180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  <p:pic>
            <p:nvPicPr>
              <p:cNvPr id="43" name="图片 42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95" y="9007"/>
                <a:ext cx="2970" cy="3180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  <p:pic>
            <p:nvPicPr>
              <p:cNvPr id="44" name="图片 43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83" y="9007"/>
                <a:ext cx="2970" cy="3180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  <p:cxnSp>
            <p:nvCxnSpPr>
              <p:cNvPr id="46" name="直接连接符 45"/>
              <p:cNvCxnSpPr>
                <a:endCxn id="37" idx="3"/>
              </p:cNvCxnSpPr>
              <p:nvPr/>
            </p:nvCxnSpPr>
            <p:spPr>
              <a:xfrm>
                <a:off x="3447" y="10619"/>
                <a:ext cx="872" cy="149"/>
              </a:xfrm>
              <a:prstGeom prst="line">
                <a:avLst/>
              </a:prstGeom>
              <a:ln w="31750" cap="rnd">
                <a:solidFill>
                  <a:srgbClr val="642882"/>
                </a:solidFill>
                <a:prstDash val="sysDot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" name="组合 163"/>
          <p:cNvGrpSpPr/>
          <p:nvPr/>
        </p:nvGrpSpPr>
        <p:grpSpPr>
          <a:xfrm>
            <a:off x="5845175" y="3893185"/>
            <a:ext cx="1156970" cy="330200"/>
            <a:chOff x="9512" y="6569"/>
            <a:chExt cx="1822" cy="520"/>
          </a:xfrm>
        </p:grpSpPr>
        <p:grpSp>
          <p:nvGrpSpPr>
            <p:cNvPr id="59" name="组合 58"/>
            <p:cNvGrpSpPr/>
            <p:nvPr/>
          </p:nvGrpSpPr>
          <p:grpSpPr>
            <a:xfrm flipV="1">
              <a:off x="9512" y="6569"/>
              <a:ext cx="1422" cy="120"/>
              <a:chOff x="9255" y="499"/>
              <a:chExt cx="7484" cy="850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925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1010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109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118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133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141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1503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1588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cxnSp>
            <p:nvCxnSpPr>
              <p:cNvPr id="58" name="直接连接符 57"/>
              <p:cNvCxnSpPr>
                <a:stCxn id="53" idx="3"/>
                <a:endCxn id="54" idx="1"/>
              </p:cNvCxnSpPr>
              <p:nvPr/>
            </p:nvCxnSpPr>
            <p:spPr>
              <a:xfrm>
                <a:off x="12672" y="924"/>
                <a:ext cx="650" cy="0"/>
              </a:xfrm>
              <a:prstGeom prst="line">
                <a:avLst/>
              </a:prstGeom>
              <a:ln w="28575" cap="rnd">
                <a:solidFill>
                  <a:srgbClr val="642882"/>
                </a:solidFill>
                <a:prstDash val="sysDot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 flipV="1">
              <a:off x="9712" y="6769"/>
              <a:ext cx="1422" cy="120"/>
              <a:chOff x="9255" y="499"/>
              <a:chExt cx="7484" cy="85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925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010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09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18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33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41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503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588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cxnSp>
            <p:nvCxnSpPr>
              <p:cNvPr id="69" name="直接连接符 68"/>
              <p:cNvCxnSpPr>
                <a:stCxn id="64" idx="3"/>
                <a:endCxn id="65" idx="1"/>
              </p:cNvCxnSpPr>
              <p:nvPr/>
            </p:nvCxnSpPr>
            <p:spPr>
              <a:xfrm>
                <a:off x="12672" y="924"/>
                <a:ext cx="650" cy="0"/>
              </a:xfrm>
              <a:prstGeom prst="line">
                <a:avLst/>
              </a:prstGeom>
              <a:ln w="28575" cap="rnd">
                <a:solidFill>
                  <a:srgbClr val="642882"/>
                </a:solidFill>
                <a:prstDash val="sysDot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/>
            <p:cNvGrpSpPr/>
            <p:nvPr/>
          </p:nvGrpSpPr>
          <p:grpSpPr>
            <a:xfrm flipV="1">
              <a:off x="9912" y="6969"/>
              <a:ext cx="1422" cy="120"/>
              <a:chOff x="9255" y="499"/>
              <a:chExt cx="7484" cy="850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925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10105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109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18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1332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4172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1503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5889" y="499"/>
                <a:ext cx="850" cy="850"/>
              </a:xfrm>
              <a:prstGeom prst="rect">
                <a:avLst/>
              </a:prstGeom>
              <a:noFill/>
              <a:ln w="28575">
                <a:solidFill>
                  <a:srgbClr val="64288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200"/>
              </a:p>
            </p:txBody>
          </p:sp>
          <p:cxnSp>
            <p:nvCxnSpPr>
              <p:cNvPr id="86" name="直接连接符 85"/>
              <p:cNvCxnSpPr>
                <a:stCxn id="75" idx="3"/>
                <a:endCxn id="78" idx="1"/>
              </p:cNvCxnSpPr>
              <p:nvPr/>
            </p:nvCxnSpPr>
            <p:spPr>
              <a:xfrm>
                <a:off x="12672" y="924"/>
                <a:ext cx="650" cy="0"/>
              </a:xfrm>
              <a:prstGeom prst="line">
                <a:avLst/>
              </a:prstGeom>
              <a:ln w="28575" cap="rnd">
                <a:solidFill>
                  <a:srgbClr val="642882"/>
                </a:solidFill>
                <a:prstDash val="sysDot"/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文本框 86"/>
          <p:cNvSpPr txBox="1"/>
          <p:nvPr/>
        </p:nvSpPr>
        <p:spPr>
          <a:xfrm>
            <a:off x="5530850" y="4246245"/>
            <a:ext cx="1517015" cy="207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652C80"/>
                </a:solidFill>
                <a:sym typeface="+mn-ea"/>
              </a:rPr>
              <a:t>16</a:t>
            </a:r>
            <a:r>
              <a:rPr lang="zh-CN" altLang="en-US" sz="1200" b="1">
                <a:solidFill>
                  <a:srgbClr val="652C80"/>
                </a:solidFill>
                <a:sym typeface="+mn-ea"/>
              </a:rPr>
              <a:t>帧时间窗口</a:t>
            </a:r>
            <a:endParaRPr lang="zh-CN" altLang="en-US" sz="1200" b="1">
              <a:solidFill>
                <a:srgbClr val="652C80"/>
              </a:solidFill>
              <a:sym typeface="+mn-ea"/>
            </a:endParaRPr>
          </a:p>
        </p:txBody>
      </p:sp>
      <p:sp>
        <p:nvSpPr>
          <p:cNvPr id="88" name="右箭头 87"/>
          <p:cNvSpPr/>
          <p:nvPr/>
        </p:nvSpPr>
        <p:spPr>
          <a:xfrm>
            <a:off x="5329555" y="3819525"/>
            <a:ext cx="307340" cy="76200"/>
          </a:xfrm>
          <a:prstGeom prst="rightArrow">
            <a:avLst/>
          </a:prstGeom>
          <a:solidFill>
            <a:srgbClr val="7030A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grpSp>
        <p:nvGrpSpPr>
          <p:cNvPr id="124" name="组合 123"/>
          <p:cNvGrpSpPr/>
          <p:nvPr/>
        </p:nvGrpSpPr>
        <p:grpSpPr>
          <a:xfrm>
            <a:off x="7211060" y="3463925"/>
            <a:ext cx="384810" cy="643255"/>
            <a:chOff x="6675" y="1793"/>
            <a:chExt cx="1440" cy="4191"/>
          </a:xfrm>
        </p:grpSpPr>
        <p:sp>
          <p:nvSpPr>
            <p:cNvPr id="99" name="矩形 98"/>
            <p:cNvSpPr/>
            <p:nvPr/>
          </p:nvSpPr>
          <p:spPr>
            <a:xfrm>
              <a:off x="6675" y="4882"/>
              <a:ext cx="201" cy="12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6A268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6895" y="4850"/>
              <a:ext cx="201" cy="1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7095" y="4509"/>
              <a:ext cx="201" cy="493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7305" y="1793"/>
              <a:ext cx="201" cy="320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7506" y="3321"/>
              <a:ext cx="201" cy="168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714" y="5002"/>
              <a:ext cx="201" cy="98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915" y="4835"/>
              <a:ext cx="201" cy="167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</p:grpSp>
      <p:sp>
        <p:nvSpPr>
          <p:cNvPr id="136" name="文本框 135"/>
          <p:cNvSpPr txBox="1"/>
          <p:nvPr/>
        </p:nvSpPr>
        <p:spPr>
          <a:xfrm>
            <a:off x="7047865" y="4262755"/>
            <a:ext cx="1517015" cy="207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652C80"/>
                </a:solidFill>
                <a:sym typeface="+mn-ea"/>
              </a:rPr>
              <a:t>LayerNorm</a:t>
            </a:r>
            <a:endParaRPr lang="en-US" altLang="zh-CN" sz="1200" b="1">
              <a:solidFill>
                <a:srgbClr val="652C80"/>
              </a:solidFill>
              <a:sym typeface="+mn-ea"/>
            </a:endParaRPr>
          </a:p>
        </p:txBody>
      </p:sp>
      <p:pic>
        <p:nvPicPr>
          <p:cNvPr id="137" name="图片 136" descr="神经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67625" y="4636135"/>
            <a:ext cx="516890" cy="516890"/>
          </a:xfrm>
          <a:prstGeom prst="rect">
            <a:avLst/>
          </a:prstGeom>
        </p:spPr>
      </p:pic>
      <p:sp>
        <p:nvSpPr>
          <p:cNvPr id="138" name="右箭头 137"/>
          <p:cNvSpPr/>
          <p:nvPr/>
        </p:nvSpPr>
        <p:spPr>
          <a:xfrm rot="10800000">
            <a:off x="7288530" y="4856480"/>
            <a:ext cx="307340" cy="76200"/>
          </a:xfrm>
          <a:prstGeom prst="rightArrow">
            <a:avLst/>
          </a:prstGeom>
          <a:solidFill>
            <a:srgbClr val="7030A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39" name="文本框 138"/>
          <p:cNvSpPr txBox="1"/>
          <p:nvPr/>
        </p:nvSpPr>
        <p:spPr>
          <a:xfrm>
            <a:off x="7167880" y="5153025"/>
            <a:ext cx="1517015" cy="345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solidFill>
                  <a:srgbClr val="652C80"/>
                </a:solidFill>
                <a:sym typeface="+mn-ea"/>
              </a:rPr>
              <a:t>BiLSTM</a:t>
            </a:r>
            <a:endParaRPr lang="en-US" altLang="zh-CN" sz="1200" b="1">
              <a:solidFill>
                <a:srgbClr val="652C80"/>
              </a:solidFill>
              <a:sym typeface="+mn-ea"/>
            </a:endParaRPr>
          </a:p>
          <a:p>
            <a:pPr algn="ctr"/>
            <a:r>
              <a:rPr lang="en-US" altLang="zh-CN" sz="1200" b="1">
                <a:solidFill>
                  <a:srgbClr val="652C80"/>
                </a:solidFill>
                <a:sym typeface="+mn-ea"/>
              </a:rPr>
              <a:t>/GRU</a:t>
            </a:r>
            <a:endParaRPr lang="en-US" altLang="zh-CN" sz="1200" b="1">
              <a:solidFill>
                <a:srgbClr val="652C80"/>
              </a:solidFill>
              <a:sym typeface="+mn-ea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6665595" y="4595495"/>
            <a:ext cx="756920" cy="579120"/>
            <a:chOff x="4544" y="7645"/>
            <a:chExt cx="3675" cy="3154"/>
          </a:xfrm>
        </p:grpSpPr>
        <p:pic>
          <p:nvPicPr>
            <p:cNvPr id="90" name="图片 89"/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4969" y="8044"/>
              <a:ext cx="3250" cy="2699"/>
            </a:xfrm>
            <a:prstGeom prst="rect">
              <a:avLst/>
            </a:prstGeom>
            <a:scene3d>
              <a:camera prst="isometricOffAxis1Left"/>
              <a:lightRig rig="threePt" dir="t"/>
            </a:scene3d>
          </p:spPr>
        </p:pic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544" y="7645"/>
              <a:ext cx="1029" cy="3155"/>
            </a:xfrm>
            <a:prstGeom prst="rect">
              <a:avLst/>
            </a:prstGeom>
          </p:spPr>
        </p:pic>
        <p:cxnSp>
          <p:nvCxnSpPr>
            <p:cNvPr id="141" name="直接箭头连接符 140"/>
            <p:cNvCxnSpPr/>
            <p:nvPr/>
          </p:nvCxnSpPr>
          <p:spPr>
            <a:xfrm flipH="1">
              <a:off x="5429" y="9211"/>
              <a:ext cx="500" cy="0"/>
            </a:xfrm>
            <a:prstGeom prst="straightConnector1">
              <a:avLst/>
            </a:prstGeom>
            <a:ln w="6350" cap="flat" cmpd="sng" algn="ctr">
              <a:solidFill>
                <a:srgbClr val="7030A0"/>
              </a:solidFill>
              <a:prstDash val="dash"/>
              <a:miter lim="800000"/>
              <a:tailEnd type="arrow" w="med" len="med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3" name="右箭头 142"/>
          <p:cNvSpPr/>
          <p:nvPr/>
        </p:nvSpPr>
        <p:spPr>
          <a:xfrm rot="10800000">
            <a:off x="4928235" y="4856480"/>
            <a:ext cx="307340" cy="76200"/>
          </a:xfrm>
          <a:prstGeom prst="rightArrow">
            <a:avLst/>
          </a:prstGeom>
          <a:solidFill>
            <a:srgbClr val="7030A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44" name="文本框 143"/>
          <p:cNvSpPr txBox="1"/>
          <p:nvPr/>
        </p:nvSpPr>
        <p:spPr>
          <a:xfrm>
            <a:off x="6099175" y="5174615"/>
            <a:ext cx="1701800" cy="348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 b="1">
                <a:solidFill>
                  <a:srgbClr val="652C80"/>
                </a:solidFill>
                <a:sym typeface="+mn-ea"/>
              </a:rPr>
              <a:t>平均池化</a:t>
            </a:r>
            <a:endParaRPr lang="zh-CN" altLang="en-US" sz="1600" b="1">
              <a:solidFill>
                <a:srgbClr val="652C80"/>
              </a:solidFill>
              <a:sym typeface="+mn-ea"/>
            </a:endParaRPr>
          </a:p>
          <a:p>
            <a:pPr algn="ctr"/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7893685" y="3566160"/>
            <a:ext cx="407670" cy="554990"/>
            <a:chOff x="8137" y="3898"/>
            <a:chExt cx="1259" cy="1085"/>
          </a:xfrm>
        </p:grpSpPr>
        <p:sp>
          <p:nvSpPr>
            <p:cNvPr id="155" name="矩形 154"/>
            <p:cNvSpPr/>
            <p:nvPr/>
          </p:nvSpPr>
          <p:spPr>
            <a:xfrm>
              <a:off x="8137" y="4665"/>
              <a:ext cx="173" cy="17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6A268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56" name="矩形 155"/>
            <p:cNvSpPr/>
            <p:nvPr/>
          </p:nvSpPr>
          <p:spPr>
            <a:xfrm>
              <a:off x="8326" y="4667"/>
              <a:ext cx="173" cy="16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8498" y="4535"/>
              <a:ext cx="173" cy="12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58" name="矩形 157"/>
            <p:cNvSpPr/>
            <p:nvPr/>
          </p:nvSpPr>
          <p:spPr>
            <a:xfrm>
              <a:off x="8679" y="3898"/>
              <a:ext cx="173" cy="7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8852" y="4119"/>
              <a:ext cx="173" cy="536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60" name="矩形 159"/>
            <p:cNvSpPr/>
            <p:nvPr/>
          </p:nvSpPr>
          <p:spPr>
            <a:xfrm>
              <a:off x="9035" y="4671"/>
              <a:ext cx="173" cy="31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161" name="矩形 160"/>
            <p:cNvSpPr/>
            <p:nvPr/>
          </p:nvSpPr>
          <p:spPr>
            <a:xfrm>
              <a:off x="9224" y="4670"/>
              <a:ext cx="173" cy="242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</p:grpSp>
      <p:cxnSp>
        <p:nvCxnSpPr>
          <p:cNvPr id="162" name="直接箭头连接符 161"/>
          <p:cNvCxnSpPr/>
          <p:nvPr/>
        </p:nvCxnSpPr>
        <p:spPr>
          <a:xfrm flipV="1">
            <a:off x="7625080" y="3956685"/>
            <a:ext cx="245745" cy="1905"/>
          </a:xfrm>
          <a:prstGeom prst="straightConnector1">
            <a:avLst/>
          </a:prstGeom>
          <a:ln w="6350" cap="flat" cmpd="sng" algn="ctr">
            <a:solidFill>
              <a:srgbClr val="7030A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7" name="右箭头 166"/>
          <p:cNvSpPr/>
          <p:nvPr/>
        </p:nvSpPr>
        <p:spPr>
          <a:xfrm>
            <a:off x="6899275" y="3840480"/>
            <a:ext cx="307340" cy="76200"/>
          </a:xfrm>
          <a:prstGeom prst="rightArrow">
            <a:avLst/>
          </a:prstGeom>
          <a:solidFill>
            <a:srgbClr val="7030A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sp>
        <p:nvSpPr>
          <p:cNvPr id="168" name="右弧形箭头 167"/>
          <p:cNvSpPr/>
          <p:nvPr/>
        </p:nvSpPr>
        <p:spPr>
          <a:xfrm>
            <a:off x="8303260" y="3860800"/>
            <a:ext cx="177800" cy="1221105"/>
          </a:xfrm>
          <a:prstGeom prst="curved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69" name="图片 168" descr="添加事实要素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0800000">
            <a:off x="5645785" y="4668520"/>
            <a:ext cx="453390" cy="427990"/>
          </a:xfrm>
          <a:prstGeom prst="rect">
            <a:avLst/>
          </a:prstGeom>
        </p:spPr>
      </p:pic>
      <p:sp>
        <p:nvSpPr>
          <p:cNvPr id="170" name="文本框 169"/>
          <p:cNvSpPr txBox="1"/>
          <p:nvPr/>
        </p:nvSpPr>
        <p:spPr>
          <a:xfrm>
            <a:off x="5033010" y="5177790"/>
            <a:ext cx="1701800" cy="348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 b="1">
                <a:solidFill>
                  <a:srgbClr val="652C80"/>
                </a:solidFill>
                <a:sym typeface="+mn-ea"/>
              </a:rPr>
              <a:t>全连接</a:t>
            </a:r>
            <a:endParaRPr lang="zh-CN" altLang="en-US" sz="1600" b="1">
              <a:solidFill>
                <a:srgbClr val="652C80"/>
              </a:solidFill>
              <a:sym typeface="+mn-ea"/>
            </a:endParaRPr>
          </a:p>
          <a:p>
            <a:pPr algn="ctr"/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4910455" y="4595495"/>
            <a:ext cx="1021715" cy="557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000" b="1">
                <a:solidFill>
                  <a:srgbClr val="652C80"/>
                </a:solidFill>
                <a:sym typeface="+mn-ea"/>
              </a:rPr>
              <a:t>   </a:t>
            </a:r>
            <a:r>
              <a:rPr lang="zh-CN" altLang="en-US" sz="1000" b="1">
                <a:solidFill>
                  <a:srgbClr val="652C80"/>
                </a:solidFill>
                <a:sym typeface="+mn-ea"/>
              </a:rPr>
              <a:t>输出头</a:t>
            </a:r>
            <a:endParaRPr lang="zh-CN" altLang="en-US" sz="1000" b="1">
              <a:solidFill>
                <a:srgbClr val="652C80"/>
              </a:solidFill>
              <a:sym typeface="+mn-ea"/>
            </a:endParaRPr>
          </a:p>
          <a:p>
            <a:pPr algn="ctr"/>
            <a:r>
              <a:rPr lang="zh-CN" altLang="en-US" sz="1000" b="1">
                <a:solidFill>
                  <a:srgbClr val="652C80"/>
                </a:solidFill>
                <a:sym typeface="+mn-ea"/>
              </a:rPr>
              <a:t>输出头</a:t>
            </a:r>
            <a:endParaRPr lang="zh-CN" altLang="en-US" sz="1000" b="1">
              <a:solidFill>
                <a:srgbClr val="652C80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rgbClr val="652C80"/>
                </a:solidFill>
                <a:sym typeface="+mn-ea"/>
              </a:rPr>
              <a:t>   </a:t>
            </a:r>
            <a:r>
              <a:rPr lang="zh-CN" altLang="en-US" sz="1000" b="1">
                <a:solidFill>
                  <a:srgbClr val="652C80"/>
                </a:solidFill>
                <a:sym typeface="+mn-ea"/>
              </a:rPr>
              <a:t>输出头</a:t>
            </a:r>
            <a:endParaRPr lang="zh-CN" altLang="en-US" sz="1000" b="1">
              <a:solidFill>
                <a:srgbClr val="652C80"/>
              </a:solidFill>
              <a:sym typeface="+mn-ea"/>
            </a:endParaRPr>
          </a:p>
          <a:p>
            <a:pPr algn="ctr"/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4189730" y="4560570"/>
            <a:ext cx="678815" cy="596265"/>
            <a:chOff x="7052" y="7269"/>
            <a:chExt cx="1069" cy="939"/>
          </a:xfrm>
        </p:grpSpPr>
        <p:pic>
          <p:nvPicPr>
            <p:cNvPr id="172" name="图片 171" descr="二分类评估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415" y="7269"/>
              <a:ext cx="380" cy="380"/>
            </a:xfrm>
            <a:prstGeom prst="rect">
              <a:avLst/>
            </a:prstGeom>
          </p:spPr>
        </p:pic>
        <p:pic>
          <p:nvPicPr>
            <p:cNvPr id="173" name="图片 172" descr="二分类评估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052" y="7735"/>
              <a:ext cx="380" cy="380"/>
            </a:xfrm>
            <a:prstGeom prst="rect">
              <a:avLst/>
            </a:prstGeom>
          </p:spPr>
        </p:pic>
        <p:pic>
          <p:nvPicPr>
            <p:cNvPr id="174" name="图片 173" descr="二分类评估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741" y="7768"/>
              <a:ext cx="380" cy="380"/>
            </a:xfrm>
            <a:prstGeom prst="rect">
              <a:avLst/>
            </a:prstGeom>
          </p:spPr>
        </p:pic>
        <p:sp>
          <p:nvSpPr>
            <p:cNvPr id="175" name="椭圆 174"/>
            <p:cNvSpPr/>
            <p:nvPr/>
          </p:nvSpPr>
          <p:spPr>
            <a:xfrm>
              <a:off x="7257" y="7472"/>
              <a:ext cx="728" cy="736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3634740" y="5149850"/>
            <a:ext cx="1701800" cy="348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 b="1">
                <a:solidFill>
                  <a:srgbClr val="652C80"/>
                </a:solidFill>
                <a:sym typeface="+mn-ea"/>
              </a:rPr>
              <a:t>同时</a:t>
            </a:r>
            <a:r>
              <a:rPr lang="zh-CN" altLang="en-US" sz="1600" b="1">
                <a:solidFill>
                  <a:srgbClr val="652C80"/>
                </a:solidFill>
                <a:sym typeface="+mn-ea"/>
              </a:rPr>
              <a:t>训练</a:t>
            </a:r>
            <a:endParaRPr lang="zh-CN" altLang="en-US" sz="1600" b="1">
              <a:solidFill>
                <a:srgbClr val="652C80"/>
              </a:solidFill>
              <a:sym typeface="+mn-ea"/>
            </a:endParaRPr>
          </a:p>
          <a:p>
            <a:pPr algn="ctr"/>
            <a:endParaRPr lang="zh-CN" altLang="en-US" sz="1000">
              <a:solidFill>
                <a:schemeClr val="tx1"/>
              </a:solidFill>
              <a:sym typeface="+mn-ea"/>
            </a:endParaRPr>
          </a:p>
        </p:txBody>
      </p:sp>
      <p:sp>
        <p:nvSpPr>
          <p:cNvPr id="178" name="右箭头 177"/>
          <p:cNvSpPr/>
          <p:nvPr/>
        </p:nvSpPr>
        <p:spPr>
          <a:xfrm rot="10800000">
            <a:off x="6249035" y="4856480"/>
            <a:ext cx="307340" cy="76200"/>
          </a:xfrm>
          <a:prstGeom prst="rightArrow">
            <a:avLst/>
          </a:prstGeom>
          <a:solidFill>
            <a:srgbClr val="7030A0"/>
          </a:solidFill>
          <a:ln>
            <a:solidFill>
              <a:srgbClr val="6A26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/>
          </a:p>
        </p:txBody>
      </p:sp>
      <p:grpSp>
        <p:nvGrpSpPr>
          <p:cNvPr id="196" name="组合 195"/>
          <p:cNvGrpSpPr/>
          <p:nvPr/>
        </p:nvGrpSpPr>
        <p:grpSpPr>
          <a:xfrm>
            <a:off x="4452620" y="5647055"/>
            <a:ext cx="1518920" cy="742315"/>
            <a:chOff x="10953" y="2920"/>
            <a:chExt cx="2392" cy="1169"/>
          </a:xfrm>
        </p:grpSpPr>
        <p:grpSp>
          <p:nvGrpSpPr>
            <p:cNvPr id="184" name="组合 183"/>
            <p:cNvGrpSpPr/>
            <p:nvPr/>
          </p:nvGrpSpPr>
          <p:grpSpPr>
            <a:xfrm>
              <a:off x="10953" y="3162"/>
              <a:ext cx="360" cy="654"/>
              <a:chOff x="7626" y="9016"/>
              <a:chExt cx="360" cy="654"/>
            </a:xfrm>
          </p:grpSpPr>
          <p:sp>
            <p:nvSpPr>
              <p:cNvPr id="179" name="圆角矩形 178"/>
              <p:cNvSpPr/>
              <p:nvPr/>
            </p:nvSpPr>
            <p:spPr>
              <a:xfrm>
                <a:off x="7626" y="9016"/>
                <a:ext cx="360" cy="655"/>
              </a:xfrm>
              <a:prstGeom prst="roundRect">
                <a:avLst/>
              </a:prstGeom>
              <a:noFill/>
              <a:ln w="38100">
                <a:solidFill>
                  <a:srgbClr val="7030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圆角矩形 179"/>
              <p:cNvSpPr/>
              <p:nvPr/>
            </p:nvSpPr>
            <p:spPr>
              <a:xfrm>
                <a:off x="7703" y="9101"/>
                <a:ext cx="223" cy="120"/>
              </a:xfrm>
              <a:prstGeom prst="roundRect">
                <a:avLst/>
              </a:prstGeom>
              <a:solidFill>
                <a:srgbClr val="7030A0"/>
              </a:solidFill>
              <a:ln w="3810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2" name="圆角矩形 181"/>
              <p:cNvSpPr/>
              <p:nvPr/>
            </p:nvSpPr>
            <p:spPr>
              <a:xfrm>
                <a:off x="7703" y="9284"/>
                <a:ext cx="223" cy="120"/>
              </a:xfrm>
              <a:prstGeom prst="roundRect">
                <a:avLst/>
              </a:prstGeom>
              <a:solidFill>
                <a:srgbClr val="7030A0"/>
              </a:solidFill>
              <a:ln w="3810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圆角矩形 182"/>
              <p:cNvSpPr/>
              <p:nvPr/>
            </p:nvSpPr>
            <p:spPr>
              <a:xfrm>
                <a:off x="7703" y="9478"/>
                <a:ext cx="223" cy="120"/>
              </a:xfrm>
              <a:prstGeom prst="roundRect">
                <a:avLst/>
              </a:prstGeom>
              <a:solidFill>
                <a:srgbClr val="7030A0"/>
              </a:solidFill>
              <a:ln w="3810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5" name="圆角矩形 184"/>
            <p:cNvSpPr/>
            <p:nvPr/>
          </p:nvSpPr>
          <p:spPr>
            <a:xfrm>
              <a:off x="11731" y="2920"/>
              <a:ext cx="1615" cy="20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/>
                <a:t>Normal</a:t>
              </a:r>
              <a:endParaRPr lang="en-US" altLang="zh-CN" sz="900"/>
            </a:p>
          </p:txBody>
        </p:sp>
        <p:sp>
          <p:nvSpPr>
            <p:cNvPr id="186" name="圆角矩形 185"/>
            <p:cNvSpPr/>
            <p:nvPr/>
          </p:nvSpPr>
          <p:spPr>
            <a:xfrm>
              <a:off x="11731" y="3260"/>
              <a:ext cx="1615" cy="20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/>
                <a:t>Yawning</a:t>
              </a:r>
              <a:endParaRPr lang="en-US" altLang="zh-CN" sz="900"/>
            </a:p>
          </p:txBody>
        </p:sp>
        <p:sp>
          <p:nvSpPr>
            <p:cNvPr id="187" name="圆角矩形 186"/>
            <p:cNvSpPr/>
            <p:nvPr/>
          </p:nvSpPr>
          <p:spPr>
            <a:xfrm>
              <a:off x="11731" y="3577"/>
              <a:ext cx="1615" cy="20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/>
                <a:t>Looking Around</a:t>
              </a:r>
              <a:endParaRPr lang="en-US" altLang="zh-CN" sz="900"/>
            </a:p>
          </p:txBody>
        </p:sp>
        <p:sp>
          <p:nvSpPr>
            <p:cNvPr id="188" name="圆角矩形 187"/>
            <p:cNvSpPr/>
            <p:nvPr/>
          </p:nvSpPr>
          <p:spPr>
            <a:xfrm>
              <a:off x="11731" y="3883"/>
              <a:ext cx="1615" cy="20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/>
                <a:t>Fatigued Driving</a:t>
              </a:r>
              <a:endParaRPr lang="en-US" altLang="zh-CN" sz="900"/>
            </a:p>
          </p:txBody>
        </p:sp>
        <p:cxnSp>
          <p:nvCxnSpPr>
            <p:cNvPr id="190" name="肘形连接符 189"/>
            <p:cNvCxnSpPr>
              <a:stCxn id="179" idx="3"/>
              <a:endCxn id="185" idx="1"/>
            </p:cNvCxnSpPr>
            <p:nvPr/>
          </p:nvCxnSpPr>
          <p:spPr>
            <a:xfrm flipV="1">
              <a:off x="11313" y="3024"/>
              <a:ext cx="418" cy="466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1" name="肘形连接符 190"/>
            <p:cNvCxnSpPr>
              <a:endCxn id="186" idx="1"/>
            </p:cNvCxnSpPr>
            <p:nvPr/>
          </p:nvCxnSpPr>
          <p:spPr>
            <a:xfrm flipV="1">
              <a:off x="11322" y="3364"/>
              <a:ext cx="409" cy="129"/>
            </a:xfrm>
            <a:prstGeom prst="bentConnector3">
              <a:avLst>
                <a:gd name="adj1" fmla="val 50122"/>
              </a:avLst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2" name="肘形连接符 191"/>
            <p:cNvCxnSpPr/>
            <p:nvPr/>
          </p:nvCxnSpPr>
          <p:spPr>
            <a:xfrm>
              <a:off x="11329" y="3492"/>
              <a:ext cx="393" cy="201"/>
            </a:xfrm>
            <a:prstGeom prst="bentConnector3">
              <a:avLst>
                <a:gd name="adj1" fmla="val 50127"/>
              </a:avLst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5" name="肘形连接符 194"/>
            <p:cNvCxnSpPr>
              <a:stCxn id="179" idx="3"/>
              <a:endCxn id="188" idx="1"/>
            </p:cNvCxnSpPr>
            <p:nvPr/>
          </p:nvCxnSpPr>
          <p:spPr>
            <a:xfrm>
              <a:off x="11313" y="3490"/>
              <a:ext cx="418" cy="49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97" name="右弧形箭头 196"/>
          <p:cNvSpPr/>
          <p:nvPr/>
        </p:nvSpPr>
        <p:spPr>
          <a:xfrm rot="20880000" flipH="1">
            <a:off x="4022090" y="5088890"/>
            <a:ext cx="179705" cy="763270"/>
          </a:xfrm>
          <a:prstGeom prst="curvedLef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9" name="直接箭头连接符 198"/>
          <p:cNvCxnSpPr>
            <a:endCxn id="171" idx="2"/>
          </p:cNvCxnSpPr>
          <p:nvPr/>
        </p:nvCxnSpPr>
        <p:spPr>
          <a:xfrm flipV="1">
            <a:off x="5410200" y="5153025"/>
            <a:ext cx="11430" cy="466725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4618990" y="1872615"/>
            <a:ext cx="3364865" cy="1002665"/>
            <a:chOff x="7590" y="3127"/>
            <a:chExt cx="4484" cy="1160"/>
          </a:xfrm>
        </p:grpSpPr>
        <p:sp>
          <p:nvSpPr>
            <p:cNvPr id="3" name="圆角矩形 2"/>
            <p:cNvSpPr/>
            <p:nvPr/>
          </p:nvSpPr>
          <p:spPr>
            <a:xfrm>
              <a:off x="7590" y="3127"/>
              <a:ext cx="4485" cy="1160"/>
            </a:xfrm>
            <a:prstGeom prst="roundRect">
              <a:avLst/>
            </a:prstGeom>
            <a:solidFill>
              <a:srgbClr val="652C80">
                <a:alpha val="9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7603" y="3511"/>
              <a:ext cx="4365" cy="528"/>
            </a:xfrm>
            <a:prstGeom prst="roundRect">
              <a:avLst/>
            </a:prstGeom>
            <a:noFill/>
            <a:ln w="12700" cmpd="sng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800" b="1">
                  <a:solidFill>
                    <a:srgbClr val="652C80"/>
                  </a:solidFill>
                </a:rPr>
                <a:t>基线：</a:t>
              </a:r>
              <a:r>
                <a:rPr lang="en-US" altLang="zh-CN" sz="2800" b="1">
                  <a:solidFill>
                    <a:srgbClr val="652C80"/>
                  </a:solidFill>
                </a:rPr>
                <a:t>Openeyes</a:t>
              </a:r>
              <a:endParaRPr lang="en-US" altLang="zh-CN" sz="2800" b="1">
                <a:solidFill>
                  <a:srgbClr val="652C80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4419600"/>
            <a:ext cx="5840506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预期效果</a:t>
            </a: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4013200"/>
            <a:ext cx="4972051" cy="3810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30000"/>
              </a:lnSpc>
            </a:pPr>
            <a:r>
              <a:rPr lang="en-US" sz="3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0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预期效果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4" name="屏幕录制 2026-04-23 16515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4670" y="1007745"/>
            <a:ext cx="7052945" cy="5789295"/>
          </a:xfrm>
          <a:prstGeom prst="rect">
            <a:avLst/>
          </a:prstGeom>
        </p:spPr>
      </p:pic>
      <p:sp>
        <p:nvSpPr>
          <p:cNvPr id="20" name="圆角矩形 19"/>
          <p:cNvSpPr/>
          <p:nvPr>
            <p:custDataLst>
              <p:tags r:id="rId5"/>
            </p:custDataLst>
          </p:nvPr>
        </p:nvSpPr>
        <p:spPr>
          <a:xfrm>
            <a:off x="140970" y="1936115"/>
            <a:ext cx="1586230" cy="92519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6"/>
            </p:custDataLst>
          </p:nvPr>
        </p:nvSpPr>
        <p:spPr>
          <a:xfrm>
            <a:off x="236855" y="2315845"/>
            <a:ext cx="13944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652C80"/>
                </a:solidFill>
              </a:rPr>
              <a:t>视频</a:t>
            </a:r>
            <a:r>
              <a:rPr lang="en-US" altLang="zh-CN" sz="1600" b="1">
                <a:solidFill>
                  <a:srgbClr val="652C80"/>
                </a:solidFill>
              </a:rPr>
              <a:t>/</a:t>
            </a:r>
            <a:r>
              <a:rPr lang="zh-CN" altLang="en-US" sz="1600" b="1">
                <a:solidFill>
                  <a:srgbClr val="652C80"/>
                </a:solidFill>
              </a:rPr>
              <a:t>摄像头采集</a:t>
            </a:r>
            <a:r>
              <a:rPr lang="zh-CN" altLang="en-US" sz="1600" b="1">
                <a:solidFill>
                  <a:srgbClr val="652C80"/>
                </a:solidFill>
              </a:rPr>
              <a:t>区域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5" name="对角圆角矩形 4"/>
          <p:cNvSpPr/>
          <p:nvPr>
            <p:custDataLst>
              <p:tags r:id="rId7"/>
            </p:custDataLst>
          </p:nvPr>
        </p:nvSpPr>
        <p:spPr>
          <a:xfrm>
            <a:off x="140970" y="1936115"/>
            <a:ext cx="305435" cy="227965"/>
          </a:xfrm>
          <a:prstGeom prst="round2DiagRect">
            <a:avLst/>
          </a:prstGeom>
          <a:solidFill>
            <a:srgbClr val="6A268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6" name="右箭头 5"/>
          <p:cNvSpPr/>
          <p:nvPr/>
        </p:nvSpPr>
        <p:spPr>
          <a:xfrm>
            <a:off x="1692275" y="2315845"/>
            <a:ext cx="431800" cy="126365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>
            <p:custDataLst>
              <p:tags r:id="rId8"/>
            </p:custDataLst>
          </p:nvPr>
        </p:nvSpPr>
        <p:spPr>
          <a:xfrm>
            <a:off x="172720" y="5678805"/>
            <a:ext cx="1554480" cy="939165"/>
          </a:xfrm>
          <a:prstGeom prst="roundRect">
            <a:avLst/>
          </a:prstGeom>
          <a:solidFill>
            <a:schemeClr val="accent2">
              <a:lumMod val="75000"/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对角圆角矩形 6"/>
          <p:cNvSpPr/>
          <p:nvPr>
            <p:custDataLst>
              <p:tags r:id="rId9"/>
            </p:custDataLst>
          </p:nvPr>
        </p:nvSpPr>
        <p:spPr>
          <a:xfrm>
            <a:off x="172720" y="5678805"/>
            <a:ext cx="305435" cy="227965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2</a:t>
            </a:r>
            <a:endParaRPr lang="en-US" altLang="zh-CN" b="1"/>
          </a:p>
        </p:txBody>
      </p:sp>
      <p:sp>
        <p:nvSpPr>
          <p:cNvPr id="53" name="圆角矩形 52"/>
          <p:cNvSpPr/>
          <p:nvPr>
            <p:custDataLst>
              <p:tags r:id="rId10"/>
            </p:custDataLst>
          </p:nvPr>
        </p:nvSpPr>
        <p:spPr>
          <a:xfrm>
            <a:off x="236855" y="6067425"/>
            <a:ext cx="156781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算法下拉</a:t>
            </a:r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选择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  <a:p>
            <a:pPr algn="l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提供</a:t>
            </a:r>
            <a:r>
              <a:rPr lang="en-US" altLang="zh-CN" sz="1600" b="1">
                <a:solidFill>
                  <a:schemeClr val="accent2">
                    <a:lumMod val="75000"/>
                  </a:schemeClr>
                </a:solidFill>
              </a:rPr>
              <a:t>2*2</a:t>
            </a:r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种</a:t>
            </a:r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组合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1727200" y="6067425"/>
            <a:ext cx="431800" cy="12636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9138285" y="1367790"/>
            <a:ext cx="2936240" cy="1564005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对角圆角矩形 9"/>
          <p:cNvSpPr/>
          <p:nvPr>
            <p:custDataLst>
              <p:tags r:id="rId11"/>
            </p:custDataLst>
          </p:nvPr>
        </p:nvSpPr>
        <p:spPr>
          <a:xfrm>
            <a:off x="11768455" y="1367790"/>
            <a:ext cx="305435" cy="227965"/>
          </a:xfrm>
          <a:prstGeom prst="round2Diag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3</a:t>
            </a:r>
            <a:endParaRPr lang="en-US" altLang="zh-CN" b="1"/>
          </a:p>
        </p:txBody>
      </p:sp>
      <p:sp>
        <p:nvSpPr>
          <p:cNvPr id="37" name="圆角矩形 36"/>
          <p:cNvSpPr/>
          <p:nvPr/>
        </p:nvSpPr>
        <p:spPr>
          <a:xfrm>
            <a:off x="9449435" y="1651635"/>
            <a:ext cx="154241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600" b="1">
                <a:solidFill>
                  <a:srgbClr val="13227A"/>
                </a:solidFill>
              </a:rPr>
              <a:t>驾驶状态</a:t>
            </a:r>
            <a:r>
              <a:rPr lang="zh-CN" altLang="en-US" sz="1600" b="1">
                <a:solidFill>
                  <a:srgbClr val="13227A"/>
                </a:solidFill>
              </a:rPr>
              <a:t>评分</a:t>
            </a:r>
            <a:endParaRPr lang="zh-CN" altLang="en-US" sz="1600" b="1">
              <a:solidFill>
                <a:srgbClr val="13227A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37650" y="1983740"/>
            <a:ext cx="2936240" cy="829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  <a:buChar char="•"/>
            </a:pPr>
            <a:r>
              <a:rPr lang="zh-CN" altLang="en-US" sz="1200"/>
              <a:t>驾驶状态评分：</a:t>
            </a:r>
            <a:endParaRPr lang="zh-CN" altLang="en-US" sz="1200"/>
          </a:p>
          <a:p>
            <a:pPr indent="0">
              <a:buFont typeface="Arial" panose="020B0604020202020204"/>
              <a:buNone/>
            </a:pPr>
            <a:r>
              <a:rPr lang="en-US" altLang="zh-CN" sz="1200"/>
              <a:t>          </a:t>
            </a:r>
            <a:r>
              <a:rPr lang="zh-CN" altLang="en-US" sz="1200"/>
              <a:t>以</a:t>
            </a:r>
            <a:r>
              <a:rPr lang="en-US" altLang="zh-CN" sz="1200"/>
              <a:t>100</a:t>
            </a:r>
            <a:r>
              <a:rPr lang="zh-CN" altLang="en-US" sz="1200"/>
              <a:t>分制展示驾驶状态评分</a:t>
            </a:r>
            <a:endParaRPr lang="zh-CN" altLang="en-US" sz="1200"/>
          </a:p>
          <a:p>
            <a:pPr>
              <a:buFont typeface="Arial" panose="020B0604020202020204"/>
              <a:buChar char="•"/>
            </a:pPr>
            <a:r>
              <a:rPr lang="zh-CN" altLang="en-US" sz="1200"/>
              <a:t>驾驶状态等级：</a:t>
            </a:r>
            <a:endParaRPr lang="zh-CN" altLang="en-US" sz="1200"/>
          </a:p>
          <a:p>
            <a:pPr indent="0">
              <a:buFont typeface="Arial" panose="020B0604020202020204"/>
              <a:buNone/>
            </a:pPr>
            <a:r>
              <a:rPr lang="en-US" altLang="zh-CN" sz="1200"/>
              <a:t>         </a:t>
            </a:r>
            <a:r>
              <a:rPr lang="zh-CN" altLang="en-US" sz="1200"/>
              <a:t>严重危险</a:t>
            </a:r>
            <a:r>
              <a:rPr lang="en-US" altLang="zh-CN" sz="1200"/>
              <a:t>/</a:t>
            </a:r>
            <a:r>
              <a:rPr lang="zh-CN" altLang="en-US" sz="1200"/>
              <a:t>危险</a:t>
            </a:r>
            <a:r>
              <a:rPr lang="en-US" altLang="zh-CN" sz="1200"/>
              <a:t>/</a:t>
            </a:r>
            <a:r>
              <a:rPr lang="zh-CN" altLang="en-US" sz="1200"/>
              <a:t>轻度危险</a:t>
            </a:r>
            <a:r>
              <a:rPr lang="en-US" altLang="zh-CN" sz="1200"/>
              <a:t>/</a:t>
            </a:r>
            <a:r>
              <a:rPr lang="zh-CN" altLang="en-US" sz="1200"/>
              <a:t>良好</a:t>
            </a:r>
            <a:r>
              <a:rPr lang="en-US" altLang="zh-CN" sz="1200"/>
              <a:t>/</a:t>
            </a:r>
            <a:r>
              <a:rPr lang="zh-CN" altLang="en-US" sz="1200"/>
              <a:t>优秀</a:t>
            </a:r>
            <a:endParaRPr lang="zh-CN" altLang="en-US" sz="1200"/>
          </a:p>
        </p:txBody>
      </p:sp>
      <p:sp>
        <p:nvSpPr>
          <p:cNvPr id="12" name="圆角矩形 11"/>
          <p:cNvSpPr/>
          <p:nvPr>
            <p:custDataLst>
              <p:tags r:id="rId12"/>
            </p:custDataLst>
          </p:nvPr>
        </p:nvSpPr>
        <p:spPr>
          <a:xfrm>
            <a:off x="9144635" y="3104515"/>
            <a:ext cx="2929890" cy="1727835"/>
          </a:xfrm>
          <a:prstGeom prst="roundRect">
            <a:avLst/>
          </a:prstGeom>
          <a:solidFill>
            <a:srgbClr val="FAF0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13"/>
            </p:custDataLst>
          </p:nvPr>
        </p:nvSpPr>
        <p:spPr>
          <a:xfrm>
            <a:off x="9144635" y="3429000"/>
            <a:ext cx="1927860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accent2">
                    <a:lumMod val="75000"/>
                  </a:schemeClr>
                </a:solidFill>
              </a:rPr>
              <a:t>检测结果列表</a:t>
            </a:r>
            <a:endParaRPr lang="zh-CN" altLang="en-US" sz="16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对角圆角矩形 13"/>
          <p:cNvSpPr/>
          <p:nvPr>
            <p:custDataLst>
              <p:tags r:id="rId14"/>
            </p:custDataLst>
          </p:nvPr>
        </p:nvSpPr>
        <p:spPr>
          <a:xfrm>
            <a:off x="11768455" y="3104515"/>
            <a:ext cx="305435" cy="227965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4</a:t>
            </a:r>
            <a:endParaRPr lang="en-US" altLang="zh-CN" b="1"/>
          </a:p>
        </p:txBody>
      </p:sp>
      <p:sp>
        <p:nvSpPr>
          <p:cNvPr id="15" name="文本框 14"/>
          <p:cNvSpPr txBox="1"/>
          <p:nvPr/>
        </p:nvSpPr>
        <p:spPr>
          <a:xfrm>
            <a:off x="9144635" y="3710940"/>
            <a:ext cx="293052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zh-CN" altLang="en-US" sz="1200"/>
              <a:t>展示视频时间点中匹配到的</a:t>
            </a:r>
            <a:r>
              <a:rPr lang="zh-CN" altLang="en-US" sz="1200"/>
              <a:t>行为</a:t>
            </a:r>
            <a:endParaRPr lang="zh-CN" altLang="en-US" sz="1200"/>
          </a:p>
          <a:p>
            <a:pPr marL="171450" indent="-171450">
              <a:buFont typeface="Wingdings" panose="05000000000000000000" charset="0"/>
              <a:buChar char="Ø"/>
            </a:pPr>
            <a:r>
              <a:rPr lang="zh-CN" altLang="en-US" sz="1200"/>
              <a:t>行为包括：驾驶位无人</a:t>
            </a:r>
            <a:r>
              <a:rPr lang="en-US" altLang="zh-CN" sz="1200"/>
              <a:t>/</a:t>
            </a:r>
            <a:r>
              <a:rPr lang="zh-CN" altLang="en-US" sz="1200"/>
              <a:t>驾驶中使用手机</a:t>
            </a:r>
            <a:r>
              <a:rPr lang="en-US" altLang="zh-CN" sz="1200"/>
              <a:t>/</a:t>
            </a:r>
            <a:r>
              <a:rPr lang="zh-CN" altLang="en-US" sz="1200"/>
              <a:t>驾驶中打电话</a:t>
            </a:r>
            <a:r>
              <a:rPr lang="en-US" altLang="zh-CN" sz="1200"/>
              <a:t>/</a:t>
            </a:r>
            <a:r>
              <a:rPr lang="zh-CN" altLang="en-US" sz="1200"/>
              <a:t>未系安全带</a:t>
            </a:r>
            <a:r>
              <a:rPr lang="en-US" altLang="zh-CN" sz="1200"/>
              <a:t>/</a:t>
            </a:r>
            <a:r>
              <a:rPr lang="zh-CN" altLang="en-US" sz="1200"/>
              <a:t>双手离开方向盘</a:t>
            </a:r>
            <a:r>
              <a:rPr lang="en-US" altLang="zh-CN" sz="1200"/>
              <a:t>/</a:t>
            </a:r>
            <a:r>
              <a:rPr lang="zh-CN" altLang="en-US" sz="1200"/>
              <a:t>驾驶中吸烟</a:t>
            </a:r>
            <a:r>
              <a:rPr lang="en-US" altLang="zh-CN" sz="1200"/>
              <a:t>/</a:t>
            </a:r>
            <a:r>
              <a:rPr lang="zh-CN" altLang="en-US" sz="1200"/>
              <a:t>摄像头被遮挡驾驶姿势异常</a:t>
            </a:r>
            <a:endParaRPr lang="zh-CN" altLang="en-US" sz="1200"/>
          </a:p>
        </p:txBody>
      </p:sp>
      <p:sp>
        <p:nvSpPr>
          <p:cNvPr id="16" name="右箭头 15"/>
          <p:cNvSpPr/>
          <p:nvPr/>
        </p:nvSpPr>
        <p:spPr>
          <a:xfrm rot="10800000">
            <a:off x="8643620" y="5678805"/>
            <a:ext cx="431800" cy="126365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10800000">
            <a:off x="8643620" y="2189480"/>
            <a:ext cx="431800" cy="126365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 rot="10800000">
            <a:off x="8643620" y="3934460"/>
            <a:ext cx="431800" cy="12636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>
            <p:custDataLst>
              <p:tags r:id="rId15"/>
            </p:custDataLst>
          </p:nvPr>
        </p:nvSpPr>
        <p:spPr>
          <a:xfrm>
            <a:off x="9137650" y="5148580"/>
            <a:ext cx="2936240" cy="1287145"/>
          </a:xfrm>
          <a:prstGeom prst="roundRect">
            <a:avLst/>
          </a:prstGeom>
          <a:solidFill>
            <a:srgbClr val="652C80">
              <a:alpha val="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16"/>
            </p:custDataLst>
          </p:nvPr>
        </p:nvSpPr>
        <p:spPr>
          <a:xfrm>
            <a:off x="9449435" y="5376545"/>
            <a:ext cx="1773555" cy="335280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rgbClr val="652C80"/>
                </a:solidFill>
              </a:rPr>
              <a:t>大模型分析展示雷达图</a:t>
            </a:r>
            <a:r>
              <a:rPr lang="en-US" altLang="zh-CN" sz="1600" b="1">
                <a:solidFill>
                  <a:srgbClr val="652C80"/>
                </a:solidFill>
              </a:rPr>
              <a:t>/</a:t>
            </a:r>
            <a:r>
              <a:rPr lang="zh-CN" altLang="en-US" sz="1600" b="1">
                <a:solidFill>
                  <a:srgbClr val="652C80"/>
                </a:solidFill>
              </a:rPr>
              <a:t>驾驶</a:t>
            </a:r>
            <a:r>
              <a:rPr lang="zh-CN" altLang="en-US" sz="1600" b="1">
                <a:solidFill>
                  <a:srgbClr val="652C80"/>
                </a:solidFill>
              </a:rPr>
              <a:t>建议</a:t>
            </a:r>
            <a:endParaRPr lang="zh-CN" altLang="en-US" sz="1600" b="1">
              <a:solidFill>
                <a:srgbClr val="652C80"/>
              </a:solidFill>
            </a:endParaRPr>
          </a:p>
        </p:txBody>
      </p:sp>
      <p:sp>
        <p:nvSpPr>
          <p:cNvPr id="22" name="对角圆角矩形 21"/>
          <p:cNvSpPr/>
          <p:nvPr>
            <p:custDataLst>
              <p:tags r:id="rId17"/>
            </p:custDataLst>
          </p:nvPr>
        </p:nvSpPr>
        <p:spPr>
          <a:xfrm>
            <a:off x="11769090" y="5148580"/>
            <a:ext cx="305435" cy="227965"/>
          </a:xfrm>
          <a:prstGeom prst="round2DiagRect">
            <a:avLst/>
          </a:prstGeom>
          <a:solidFill>
            <a:srgbClr val="6A268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5</a:t>
            </a:r>
            <a:endParaRPr lang="en-US" altLang="zh-CN" b="1"/>
          </a:p>
        </p:txBody>
      </p:sp>
      <p:sp>
        <p:nvSpPr>
          <p:cNvPr id="23" name="文本框 22"/>
          <p:cNvSpPr txBox="1"/>
          <p:nvPr/>
        </p:nvSpPr>
        <p:spPr>
          <a:xfrm>
            <a:off x="9271635" y="5799455"/>
            <a:ext cx="28022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>
              <a:buFont typeface="Wingdings" panose="05000000000000000000" charset="0"/>
              <a:buChar char="Ø"/>
            </a:pPr>
            <a:r>
              <a:rPr lang="zh-CN" altLang="en-US" sz="1200"/>
              <a:t>拓展模块：接入大模型作驾驶习惯分析的雷达图，并针对性给出</a:t>
            </a:r>
            <a:r>
              <a:rPr lang="zh-CN" altLang="en-US" sz="1200"/>
              <a:t>建议</a:t>
            </a:r>
            <a:endParaRPr lang="zh-CN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4419600"/>
            <a:ext cx="5840506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7000"/>
              </a:lnSpc>
            </a:pPr>
            <a:r>
              <a:rPr lang="zh-CN" altLang="en-US" sz="5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项目分工</a:t>
            </a:r>
            <a:endParaRPr lang="zh-CN" altLang="en-US" sz="5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226300" y="4013200"/>
            <a:ext cx="4972051" cy="3810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30000"/>
              </a:lnSpc>
            </a:pPr>
            <a:r>
              <a:rPr lang="en-US" sz="3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0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项目分工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60172" y="1040756"/>
          <a:ext cx="11000404" cy="6480175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602998"/>
                <a:gridCol w="1544107"/>
                <a:gridCol w="2372828"/>
                <a:gridCol w="3240236"/>
                <a:gridCol w="3240235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zh-CN" sz="1600" kern="0" dirty="0">
                          <a:solidFill>
                            <a:schemeClr val="bg1"/>
                          </a:solidFill>
                          <a:effectLst/>
                        </a:rPr>
                        <a:t>序号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6A26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0" dirty="0">
                          <a:solidFill>
                            <a:schemeClr val="bg1"/>
                          </a:solidFill>
                          <a:effectLst/>
                        </a:rPr>
                        <a:t>姓名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solidFill>
                      <a:srgbClr val="6A26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0" dirty="0">
                          <a:solidFill>
                            <a:schemeClr val="bg1"/>
                          </a:solidFill>
                          <a:effectLst/>
                        </a:rPr>
                        <a:t>负责模块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6A26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0" dirty="0">
                          <a:solidFill>
                            <a:schemeClr val="bg1"/>
                          </a:solidFill>
                          <a:effectLst/>
                        </a:rPr>
                        <a:t>输入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6A268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kern="100" dirty="0">
                          <a:solidFill>
                            <a:schemeClr val="bg1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输出</a:t>
                      </a:r>
                      <a:endParaRPr lang="zh-CN" altLang="en-US" sz="1600" kern="100" dirty="0">
                        <a:solidFill>
                          <a:schemeClr val="bg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6A2686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sz="1400" kern="0" dirty="0">
                          <a:effectLst/>
                        </a:rPr>
                        <a:t>1</a:t>
                      </a:r>
                      <a:endParaRPr lang="en-US" sz="1400" kern="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左贵旭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行为识别数据工程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原始行为数据集、标注规则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清洗后的行为数据集、标注文件、划分脚本、评估脚本，提供给3/4号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张孝航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疲劳检测数据工程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原始疲劳数据集、标注规则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清洗后的疲劳数据集、标注文件、划分脚本、评估脚本，提供给5/6号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altLang="zh-CN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吴志鹏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行为识别算法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1号的数据、统一接口规范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模型重、 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predict(frame) 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推理接口、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 Phone/Calling/Smoking/No Driver/Lens Covered 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结果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sym typeface="+mn-ea"/>
                        </a:rPr>
                        <a:t>白一帆</a:t>
                      </a:r>
                      <a:endParaRPr lang="zh-CN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行为识别算法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1号的数据、统一接口规范</a:t>
                      </a:r>
                      <a:endParaRPr lang="zh-CN" altLang="en-US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第二套行为模型、同样的 </a:t>
                      </a:r>
                      <a:r>
                        <a:rPr lang="en-US" altLang="zh-CN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predict(frame)</a:t>
                      </a:r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接口、可对比的识别结果</a:t>
                      </a:r>
                      <a:endParaRPr lang="zh-CN" altLang="en-US" sz="14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陈祥宇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疲劳检测算法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endParaRPr lang="zh-CN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2号的数据、统一接口规范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</a:rPr>
                        <a:t>哈欠、左顾右盼、疲劳驾驶评分，含阈值和风险分级</a:t>
                      </a:r>
                      <a:endParaRPr lang="zh-CN" altLang="en-US" sz="14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altLang="zh-CN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温世彪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疲劳检测算法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2号的数据、统一接口规范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分级第二套疲劳模型、同样的评分接口、可对比的检测结果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2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altLang="zh-CN" sz="14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曹宇佳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400" kern="100" dirty="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系统集成与界面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400" kern="100"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Times New Roman" panose="02020603050405020304" pitchFamily="18" charset="0"/>
                          <a:sym typeface="+mn-ea"/>
                        </a:rPr>
                        <a:t>3/4/5/6的统一输出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可运行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demo、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算法切换、实时显示、告警弹窗、统计图、结果导出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敬请老师</a:t>
            </a:r>
            <a:r>
              <a:rPr lang="zh-CN" altLang="en-US" dirty="0"/>
              <a:t>同学批评指正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2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3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4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5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6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7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8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9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10.xml><?xml version="1.0" encoding="utf-8"?>
<p:tagLst xmlns:p="http://schemas.openxmlformats.org/presentationml/2006/main">
  <p:tag name="KSO_WM_DIAGRAM_VIRTUALLY_FRAME" val="{&quot;height&quot;:365,&quot;left&quot;:370.00007874015745,&quot;top&quot;:70.75007874015748,&quot;width&quot;:530.0000000000001}"/>
</p:tagLst>
</file>

<file path=ppt/tags/tag11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12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13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14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15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16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17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18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19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0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1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2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3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4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5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6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7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8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29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4.45}"/>
</p:tagLst>
</file>

<file path=ppt/tags/tag30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31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32.xml><?xml version="1.0" encoding="utf-8"?>
<p:tagLst xmlns:p="http://schemas.openxmlformats.org/presentationml/2006/main">
  <p:tag name="KSO_WM_DIAGRAM_VIRTUALLY_FRAME" val="{&quot;height&quot;:236.02141732283468,&quot;left&quot;:57.85,&quot;top&quot;:202.57858267716534,&quot;width&quot;:889.95}"/>
</p:tagLst>
</file>

<file path=ppt/tags/tag33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4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5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6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7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8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39.xml><?xml version="1.0" encoding="utf-8"?>
<p:tagLst xmlns:p="http://schemas.openxmlformats.org/presentationml/2006/main">
  <p:tag name="KSO_WM_DIAGRAM_VIRTUALLY_FRAME" val="{&quot;height&quot;:89.45,&quot;left&quot;:501.75,&quot;top&quot;:417.5,&quot;width&quot;:426.05}"/>
</p:tagLst>
</file>

<file path=ppt/tags/tag40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41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2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3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4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5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6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7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8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49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50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51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52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ags/tag53.xml><?xml version="1.0" encoding="utf-8"?>
<p:tagLst xmlns:p="http://schemas.openxmlformats.org/presentationml/2006/main">
  <p:tag name="KSO_WM_DIAGRAM_VIRTUALLY_FRAME" val="{&quot;height&quot;:368.65,&quot;left&quot;:11.1,&quot;top&quot;:152.45,&quot;width&quot;:916.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2593</Words>
  <Application>WPS 演示</Application>
  <PresentationFormat>宽屏</PresentationFormat>
  <Paragraphs>530</Paragraphs>
  <Slides>15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黑体</vt:lpstr>
      <vt:lpstr>微软雅黑</vt:lpstr>
      <vt:lpstr>微软雅黑</vt:lpstr>
      <vt:lpstr>Arial</vt:lpstr>
      <vt:lpstr>Wingdings</vt:lpstr>
      <vt:lpstr>等线</vt:lpstr>
      <vt:lpstr>Times New Roman</vt:lpstr>
      <vt:lpstr>Arial Unicode MS</vt:lpstr>
      <vt:lpstr>等线 Light</vt:lpstr>
      <vt:lpstr>MS PGothic</vt:lpstr>
      <vt:lpstr>Office 主题​​</vt:lpstr>
      <vt:lpstr>2_Office 主题​​</vt:lpstr>
      <vt:lpstr>驾驶状态推演与行为测算平台</vt:lpstr>
      <vt:lpstr>PowerPoint 演示文稿</vt:lpstr>
      <vt:lpstr>PowerPoint 演示文稿</vt:lpstr>
      <vt:lpstr>整体设计</vt:lpstr>
      <vt:lpstr>PowerPoint 演示文稿</vt:lpstr>
      <vt:lpstr>需求分析与交互设计</vt:lpstr>
      <vt:lpstr>PowerPoint 演示文稿</vt:lpstr>
      <vt:lpstr>技术路线与架构</vt:lpstr>
      <vt:lpstr>行为识别算法模块</vt:lpstr>
      <vt:lpstr>疲劳检测算法模块</vt:lpstr>
      <vt:lpstr>PowerPoint 演示文稿</vt:lpstr>
      <vt:lpstr>预期效果展示</vt:lpstr>
      <vt:lpstr>PowerPoint 演示文稿</vt:lpstr>
      <vt:lpstr>项目分工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基于行驶工况的电动汽车驾驶风格识别研究</dc:title>
  <dc:creator>jh wang</dc:creator>
  <cp:lastModifiedBy>Brayden</cp:lastModifiedBy>
  <cp:revision>41</cp:revision>
  <dcterms:created xsi:type="dcterms:W3CDTF">2024-12-13T07:06:00Z</dcterms:created>
  <dcterms:modified xsi:type="dcterms:W3CDTF">2026-04-26T09:40:47Z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E9114F2D41DA48AF9AC92F1DEEACD5DD_13</vt:lpwstr>
  </property>
  <property fmtid="{D5CDD505-2E9C-101B-9397-08002B2CF9AE}" pid="3" name="KSOProductBuildVer">
    <vt:lpwstr>2052-12.1.0.25860</vt:lpwstr>
  </property>
</Properties>
</file>